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1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2.xml" ContentType="application/vnd.openxmlformats-officedocument.drawingml.chart+xml"/>
  <Override PartName="/ppt/notesSlides/notesSlide8.xml" ContentType="application/vnd.openxmlformats-officedocument.presentationml.notesSlide+xml"/>
  <Override PartName="/ppt/charts/chart3.xml" ContentType="application/vnd.openxmlformats-officedocument.drawingml.chart+xml"/>
  <Override PartName="/ppt/notesSlides/notesSlide9.xml" ContentType="application/vnd.openxmlformats-officedocument.presentationml.notesSlide+xml"/>
  <Override PartName="/ppt/charts/chart4.xml" ContentType="application/vnd.openxmlformats-officedocument.drawingml.chart+xml"/>
  <Override PartName="/ppt/notesSlides/notesSlide10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1.xml" ContentType="application/vnd.openxmlformats-officedocument.presentationml.notesSlide+xml"/>
  <Override PartName="/ppt/charts/chart7.xml" ContentType="application/vnd.openxmlformats-officedocument.drawingml.chart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1" d="100"/>
          <a:sy n="61" d="100"/>
        </p:scale>
        <p:origin x="828" y="7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valores faltantes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Attendance</c:v>
                </c:pt>
                <c:pt idx="1">
                  <c:v>AssignmentsCompleted</c:v>
                </c:pt>
                <c:pt idx="2">
                  <c:v>StudyHours</c:v>
                </c:pt>
                <c:pt idx="3">
                  <c:v>InternetHours</c:v>
                </c:pt>
                <c:pt idx="4">
                  <c:v>PreviousGPA</c:v>
                </c:pt>
                <c:pt idx="5">
                  <c:v>SleepHours</c:v>
                </c:pt>
                <c:pt idx="6">
                  <c:v>Age</c:v>
                </c:pt>
                <c:pt idx="7">
                  <c:v>Scholarship</c:v>
                </c:pt>
                <c:pt idx="8">
                  <c:v>Program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4.3899999999999997</c:v>
                </c:pt>
                <c:pt idx="1">
                  <c:v>4.24</c:v>
                </c:pt>
                <c:pt idx="2">
                  <c:v>3.55</c:v>
                </c:pt>
                <c:pt idx="3">
                  <c:v>3.45</c:v>
                </c:pt>
                <c:pt idx="4">
                  <c:v>3.18</c:v>
                </c:pt>
                <c:pt idx="5">
                  <c:v>2.39</c:v>
                </c:pt>
                <c:pt idx="6">
                  <c:v>2.02</c:v>
                </c:pt>
                <c:pt idx="7">
                  <c:v>1.59</c:v>
                </c:pt>
                <c:pt idx="8">
                  <c:v>1.37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F58-41EC-940F-EB5BC3DEA2A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 rot="2400000"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AEE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% faltante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outliers (IQR)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InternetHours</c:v>
                </c:pt>
                <c:pt idx="1">
                  <c:v>Age</c:v>
                </c:pt>
                <c:pt idx="2">
                  <c:v>SleepHours</c:v>
                </c:pt>
                <c:pt idx="3">
                  <c:v>StudyHours</c:v>
                </c:pt>
                <c:pt idx="4">
                  <c:v>FinalGrade</c:v>
                </c:pt>
                <c:pt idx="5">
                  <c:v>Attendance</c:v>
                </c:pt>
                <c:pt idx="6">
                  <c:v>PreviousGPA</c:v>
                </c:pt>
                <c:pt idx="7">
                  <c:v>AssignmentsCompleted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2.84</c:v>
                </c:pt>
                <c:pt idx="1">
                  <c:v>1.24</c:v>
                </c:pt>
                <c:pt idx="2">
                  <c:v>0.67</c:v>
                </c:pt>
                <c:pt idx="3">
                  <c:v>0.96</c:v>
                </c:pt>
                <c:pt idx="4">
                  <c:v>0.73</c:v>
                </c:pt>
                <c:pt idx="5">
                  <c:v>0.53</c:v>
                </c:pt>
                <c:pt idx="6">
                  <c:v>0.41</c:v>
                </c:pt>
                <c:pt idx="7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A4B-456C-A9F0-52F2DB4058F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EAEE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% de registros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N° estudiantes</c:v>
                </c:pt>
              </c:strCache>
            </c:strRef>
          </c:tx>
          <c:spPr>
            <a:solidFill>
              <a:srgbClr val="1B2A4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1.0–1.8</c:v>
                </c:pt>
                <c:pt idx="1">
                  <c:v>1.8–2.6</c:v>
                </c:pt>
                <c:pt idx="2">
                  <c:v>2.6–3.3</c:v>
                </c:pt>
                <c:pt idx="3">
                  <c:v>3.3–4.1</c:v>
                </c:pt>
                <c:pt idx="4">
                  <c:v>4.1–4.9</c:v>
                </c:pt>
                <c:pt idx="5">
                  <c:v>4.9–5.7</c:v>
                </c:pt>
                <c:pt idx="6">
                  <c:v>5.7–6.5</c:v>
                </c:pt>
                <c:pt idx="7">
                  <c:v>6.5–7.2</c:v>
                </c:pt>
                <c:pt idx="8">
                  <c:v>7.2–8.0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</c:v>
                </c:pt>
                <c:pt idx="1">
                  <c:v>258</c:v>
                </c:pt>
                <c:pt idx="2">
                  <c:v>681</c:v>
                </c:pt>
                <c:pt idx="3">
                  <c:v>1297</c:v>
                </c:pt>
                <c:pt idx="4">
                  <c:v>1501</c:v>
                </c:pt>
                <c:pt idx="5">
                  <c:v>940</c:v>
                </c:pt>
                <c:pt idx="6">
                  <c:v>244</c:v>
                </c:pt>
                <c:pt idx="7">
                  <c:v>22</c:v>
                </c:pt>
                <c:pt idx="8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0F3-4227-8A8B-60B3ABF074A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4E9F1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N° de estudiantes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Correlación con FinalGrade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Attendance</c:v>
                </c:pt>
                <c:pt idx="1">
                  <c:v>StudyHours</c:v>
                </c:pt>
                <c:pt idx="2">
                  <c:v>PreviousGPA</c:v>
                </c:pt>
                <c:pt idx="3">
                  <c:v>AssignmentsCompleted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0.61399999999999999</c:v>
                </c:pt>
                <c:pt idx="1">
                  <c:v>0.49399999999999999</c:v>
                </c:pt>
                <c:pt idx="2">
                  <c:v>0.42</c:v>
                </c:pt>
                <c:pt idx="3">
                  <c:v>0.33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81C-419E-B1B8-63C29A11BC3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7"/>
          <c:min val="0"/>
        </c:scaling>
        <c:delete val="0"/>
        <c:axPos val="b"/>
        <c:majorGridlines>
          <c:spPr>
            <a:ln w="12700" cap="flat">
              <a:solidFill>
                <a:srgbClr val="EAEE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000000"/>
                    </a:solidFill>
                    <a:latin typeface="Arial"/>
                  </a:rPr>
                  <a:t>Coeficiente de Pearson (r)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24D-4201-B30C-CB8CCA622B70}"/>
              </c:ext>
            </c:extLst>
          </c:dPt>
          <c:dPt>
            <c:idx val="1"/>
            <c:invertIfNegative val="0"/>
            <c:bubble3D val="0"/>
            <c:spPr>
              <a:solidFill>
                <a:srgbClr val="1C729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24D-4201-B30C-CB8CCA622B70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Con beca</c:v>
                </c:pt>
                <c:pt idx="1">
                  <c:v>Sin beca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4.3710000000000004</c:v>
                </c:pt>
                <c:pt idx="1">
                  <c:v>4.0780000000000003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724D-4201-B30C-CB8CCA622B7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5999999999999996"/>
          <c:min val="3.5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5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Administración</c:v>
                </c:pt>
                <c:pt idx="1">
                  <c:v>Ing. Informática</c:v>
                </c:pt>
                <c:pt idx="2">
                  <c:v>Ing. Industrial</c:v>
                </c:pt>
                <c:pt idx="3">
                  <c:v>Ing. Civil</c:v>
                </c:pt>
                <c:pt idx="4">
                  <c:v>Contador Auditor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4.2320000000000002</c:v>
                </c:pt>
                <c:pt idx="1">
                  <c:v>4.2309999999999999</c:v>
                </c:pt>
                <c:pt idx="2">
                  <c:v>4.2030000000000003</c:v>
                </c:pt>
                <c:pt idx="3">
                  <c:v>4.1100000000000003</c:v>
                </c:pt>
                <c:pt idx="4">
                  <c:v>4.0460000000000003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DA8-43C2-B0BC-AF2053160CE8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4.4000000000000004"/>
          <c:min val="3.8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FinalGrade promedio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33415C"/>
                    </a:solidFill>
                    <a:latin typeface="Arial"/>
                  </a:defRPr>
                </a:pPr>
                <a:endParaRPr lang="es-CL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3.3149999999999999</c:v>
                </c:pt>
                <c:pt idx="1">
                  <c:v>4</c:v>
                </c:pt>
                <c:pt idx="2">
                  <c:v>4.4690000000000003</c:v>
                </c:pt>
                <c:pt idx="3">
                  <c:v>4.9409999999999998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AF9-4875-A1BF-888276920FA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33415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3"/>
          <c:min val="2.8"/>
        </c:scaling>
        <c:delete val="1"/>
        <c:axPos val="l"/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80902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6.xml"/><Relationship Id="rId5" Type="http://schemas.openxmlformats.org/officeDocument/2006/relationships/image" Target="../media/image10.png"/><Relationship Id="rId4" Type="http://schemas.openxmlformats.org/officeDocument/2006/relationships/chart" Target="../charts/char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7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645920"/>
            <a:ext cx="4754880" cy="4754880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10789920" y="-365760"/>
            <a:ext cx="2377440" cy="237744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Shape 2"/>
          <p:cNvSpPr/>
          <p:nvPr/>
        </p:nvSpPr>
        <p:spPr>
          <a:xfrm>
            <a:off x="-2103120" y="5212080"/>
            <a:ext cx="3291840" cy="3291840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-1554480" y="612648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822960" y="141732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1 · CALIDAD Y PREPARACIÓN DE DATOS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77240" y="187452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Rendimiento Académico Estudiantil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822960" y="3246120"/>
            <a:ext cx="8778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calidad, análisis exploratorio y tratamiento reproducible</a:t>
            </a:r>
            <a:endParaRPr lang="en-US" sz="15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500" i="1" dirty="0">
                <a:solidFill>
                  <a:srgbClr val="C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datos mediante Pipeline y ColumnTransformer (scikit-learn)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4343400"/>
            <a:ext cx="7955280" cy="12802"/>
          </a:xfrm>
          <a:prstGeom prst="rect">
            <a:avLst/>
          </a:prstGeom>
          <a:solidFill>
            <a:srgbClr val="3A4A6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822960" y="452628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4864608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Alexis Palacios Toledo  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822960" y="519379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Jorge Tuschner Salazar  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522976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Benjamin Isla Pino  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22960" y="5852160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Sebastian Isla Pino  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006840" y="4526280"/>
            <a:ext cx="2468880" cy="1691640"/>
          </a:xfrm>
          <a:prstGeom prst="roundRect">
            <a:avLst>
              <a:gd name="adj" fmla="val 6486"/>
            </a:avLst>
          </a:prstGeom>
          <a:solidFill>
            <a:srgbClr val="121C33"/>
          </a:solidFill>
          <a:ln w="12700">
            <a:solidFill>
              <a:srgbClr val="2E3E60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9235440" y="470001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235440" y="4956048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Yazna Meza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235440" y="54406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DE ENTREGA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235440" y="5687568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4 de</a:t>
            </a:r>
            <a:endParaRPr lang="en-US" sz="12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septiembre,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CONTENIDO DE LA PRESENTACIÓN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vamos a revisar?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5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804" y="1862084"/>
            <a:ext cx="317480" cy="317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08760" y="16733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dataset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08760" y="20208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5.100 registros y 11 variables sobre rendimiento académico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0607040" y="16733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640080" y="25328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0" name="Shape 7"/>
          <p:cNvSpPr/>
          <p:nvPr/>
        </p:nvSpPr>
        <p:spPr>
          <a:xfrm>
            <a:off x="640080" y="265176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1" name="Image 1" descr="icons/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804" y="2776484"/>
            <a:ext cx="317480" cy="317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508760" y="25877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Problemas de calidad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508760" y="29352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Faltantes, duplicados, inconsistencias y outliers detectados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10607040" y="25877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Shape 11"/>
          <p:cNvSpPr/>
          <p:nvPr/>
        </p:nvSpPr>
        <p:spPr>
          <a:xfrm>
            <a:off x="640080" y="34472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Shape 12"/>
          <p:cNvSpPr/>
          <p:nvPr/>
        </p:nvSpPr>
        <p:spPr>
          <a:xfrm>
            <a:off x="640080" y="35661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7" name="Image 2" descr="icons/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4804" y="3690884"/>
            <a:ext cx="317480" cy="31748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35021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del EDA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508760" y="38496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Distribuciones, correlaciones y 4 preguntas de investigación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0607040" y="35021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1" name="Shape 16"/>
          <p:cNvSpPr/>
          <p:nvPr/>
        </p:nvSpPr>
        <p:spPr>
          <a:xfrm>
            <a:off x="640080" y="43616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2" name="Shape 17"/>
          <p:cNvSpPr/>
          <p:nvPr/>
        </p:nvSpPr>
        <p:spPr>
          <a:xfrm>
            <a:off x="640080" y="448056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3" name="Image 3" descr="icons/filt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4804" y="4605284"/>
            <a:ext cx="317480" cy="317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508760" y="44165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Tratamiento y Pipeline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1508760" y="47640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justificadas e implementación reproducible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10607040" y="44165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Shape 21"/>
          <p:cNvSpPr/>
          <p:nvPr/>
        </p:nvSpPr>
        <p:spPr>
          <a:xfrm>
            <a:off x="640080" y="5276088"/>
            <a:ext cx="10972800" cy="0"/>
          </a:xfrm>
          <a:prstGeom prst="line">
            <a:avLst/>
          </a:prstGeom>
          <a:noFill/>
          <a:ln w="12700">
            <a:solidFill>
              <a:srgbClr val="E7EC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Shape 22"/>
          <p:cNvSpPr/>
          <p:nvPr/>
        </p:nvSpPr>
        <p:spPr>
          <a:xfrm>
            <a:off x="640080" y="539496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9" name="Image 4" descr="icons/che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4804" y="5519684"/>
            <a:ext cx="317480" cy="317480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1508760" y="5330952"/>
            <a:ext cx="4206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final</a:t>
            </a:r>
            <a:endParaRPr lang="en-US" sz="1700" dirty="0"/>
          </a:p>
        </p:txBody>
      </p:sp>
      <p:sp>
        <p:nvSpPr>
          <p:cNvPr id="31" name="Text 24"/>
          <p:cNvSpPr/>
          <p:nvPr/>
        </p:nvSpPr>
        <p:spPr>
          <a:xfrm>
            <a:off x="1508760" y="5678424"/>
            <a:ext cx="7498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antes/después y calidad del dataset tratado</a:t>
            </a:r>
            <a:endParaRPr lang="en-US" sz="1250" dirty="0"/>
          </a:p>
        </p:txBody>
      </p:sp>
      <p:sp>
        <p:nvSpPr>
          <p:cNvPr id="32" name="Text 25"/>
          <p:cNvSpPr/>
          <p:nvPr/>
        </p:nvSpPr>
        <p:spPr>
          <a:xfrm>
            <a:off x="10607040" y="5330952"/>
            <a:ext cx="1005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DE4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Caracterización del dataset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rendimiento_academico_evaluacion.csv — datos demográficos, hábitos de estudio, antecedentes académicos y rendimiento final.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6" name="Text 4"/>
          <p:cNvSpPr/>
          <p:nvPr/>
        </p:nvSpPr>
        <p:spPr>
          <a:xfrm>
            <a:off x="54864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5.100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46888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246888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56032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2" name="Text 10"/>
          <p:cNvSpPr/>
          <p:nvPr/>
        </p:nvSpPr>
        <p:spPr>
          <a:xfrm>
            <a:off x="438912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48056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30936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5" name="Text 13"/>
          <p:cNvSpPr/>
          <p:nvPr/>
        </p:nvSpPr>
        <p:spPr>
          <a:xfrm>
            <a:off x="630936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40080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Categóricas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22960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8" name="Text 16"/>
          <p:cNvSpPr/>
          <p:nvPr/>
        </p:nvSpPr>
        <p:spPr>
          <a:xfrm>
            <a:off x="822960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832104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Identificador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(StudentID)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149840" y="1965960"/>
            <a:ext cx="1755648" cy="1965960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/>
          <a:effectLst>
            <a:outerShdw blurRad="76200" dist="25400" dir="5400000" algn="bl" rotWithShape="0">
              <a:srgbClr val="8C97AC">
                <a:alpha val="25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1" name="Text 19"/>
          <p:cNvSpPr/>
          <p:nvPr/>
        </p:nvSpPr>
        <p:spPr>
          <a:xfrm>
            <a:off x="10149840" y="2221992"/>
            <a:ext cx="175564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22" name="Text 20"/>
          <p:cNvSpPr/>
          <p:nvPr/>
        </p:nvSpPr>
        <p:spPr>
          <a:xfrm>
            <a:off x="10241280" y="3017520"/>
            <a:ext cx="157276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115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(FinalGrade)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251960"/>
            <a:ext cx="11064240" cy="1874520"/>
          </a:xfrm>
          <a:prstGeom prst="roundRect">
            <a:avLst>
              <a:gd name="adj" fmla="val 4878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4" name="Text 22"/>
          <p:cNvSpPr/>
          <p:nvPr/>
        </p:nvSpPr>
        <p:spPr>
          <a:xfrm>
            <a:off x="914400" y="44348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Interpretación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4754880"/>
            <a:ext cx="103327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3E9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StudentID identifica de forma única a cada estudiante. FinalGrade (escala 1–10) es la variable objetivo. Las features numéricas son Age, StudyHours, Attendance, PreviousGPA, AssignmentsCompleted, SleepHours e InternetHours; las categóricas son Scholarship y Program.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Principales problemas encontrados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1467612" y="2103120"/>
            <a:ext cx="768096" cy="768096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se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6593" y="2272101"/>
            <a:ext cx="430134" cy="43013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5836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faltantes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65836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1.335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1323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al menos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dato nulo, 1,4%–4,4%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variable</a:t>
            </a:r>
            <a:endParaRPr lang="en-US" sz="1080" dirty="0"/>
          </a:p>
        </p:txBody>
      </p:sp>
      <p:sp>
        <p:nvSpPr>
          <p:cNvPr id="10" name="Shape 7"/>
          <p:cNvSpPr/>
          <p:nvPr/>
        </p:nvSpPr>
        <p:spPr>
          <a:xfrm>
            <a:off x="338328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4302252" y="2103120"/>
            <a:ext cx="768096" cy="768096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icons/cop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1233" y="2272101"/>
            <a:ext cx="430134" cy="43013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9300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Duplicados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349300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2600" dirty="0"/>
          </a:p>
        </p:txBody>
      </p:sp>
      <p:sp>
        <p:nvSpPr>
          <p:cNvPr id="15" name="Text 11"/>
          <p:cNvSpPr/>
          <p:nvPr/>
        </p:nvSpPr>
        <p:spPr>
          <a:xfrm>
            <a:off x="354787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exactamente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repetidos (1,96% del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dataset)</a:t>
            </a:r>
            <a:endParaRPr lang="en-US" sz="1080" dirty="0"/>
          </a:p>
        </p:txBody>
      </p:sp>
      <p:sp>
        <p:nvSpPr>
          <p:cNvPr id="16" name="Shape 12"/>
          <p:cNvSpPr/>
          <p:nvPr/>
        </p:nvSpPr>
        <p:spPr>
          <a:xfrm>
            <a:off x="621792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7" name="Shape 13"/>
          <p:cNvSpPr/>
          <p:nvPr/>
        </p:nvSpPr>
        <p:spPr>
          <a:xfrm>
            <a:off x="7136892" y="2103120"/>
            <a:ext cx="768096" cy="768096"/>
          </a:xfrm>
          <a:prstGeom prst="ellipse">
            <a:avLst/>
          </a:prstGeom>
          <a:solidFill>
            <a:srgbClr val="C057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2" descr="icons/triang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5873" y="2272101"/>
            <a:ext cx="430134" cy="43013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2764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Inconsistencias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632764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2600" dirty="0"/>
          </a:p>
        </p:txBody>
      </p:sp>
      <p:sp>
        <p:nvSpPr>
          <p:cNvPr id="21" name="Text 16"/>
          <p:cNvSpPr/>
          <p:nvPr/>
        </p:nvSpPr>
        <p:spPr>
          <a:xfrm>
            <a:off x="638251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con texto o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fuera de dominio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(6 variables afectadas)</a:t>
            </a:r>
            <a:endParaRPr lang="en-US" sz="1080" dirty="0"/>
          </a:p>
        </p:txBody>
      </p:sp>
      <p:sp>
        <p:nvSpPr>
          <p:cNvPr id="22" name="Shape 17"/>
          <p:cNvSpPr/>
          <p:nvPr/>
        </p:nvSpPr>
        <p:spPr>
          <a:xfrm>
            <a:off x="9052560" y="1783080"/>
            <a:ext cx="2606040" cy="3246120"/>
          </a:xfrm>
          <a:prstGeom prst="roundRect">
            <a:avLst>
              <a:gd name="adj" fmla="val 4211"/>
            </a:avLst>
          </a:prstGeom>
          <a:solidFill>
            <a:srgbClr val="F6F8FB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3" name="Shape 18"/>
          <p:cNvSpPr/>
          <p:nvPr/>
        </p:nvSpPr>
        <p:spPr>
          <a:xfrm>
            <a:off x="9971532" y="2103120"/>
            <a:ext cx="768096" cy="7680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4" name="Image 3" descr="icons/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40513" y="2272101"/>
            <a:ext cx="430134" cy="43013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62288" y="3017520"/>
            <a:ext cx="23865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</a:t>
            </a:r>
            <a:endParaRPr lang="en-US" sz="1550" dirty="0"/>
          </a:p>
        </p:txBody>
      </p:sp>
      <p:sp>
        <p:nvSpPr>
          <p:cNvPr id="26" name="Text 20"/>
          <p:cNvSpPr/>
          <p:nvPr/>
        </p:nvSpPr>
        <p:spPr>
          <a:xfrm>
            <a:off x="9162288" y="3520440"/>
            <a:ext cx="238658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293→38</a:t>
            </a:r>
            <a:endParaRPr lang="en-US" sz="2600" dirty="0"/>
          </a:p>
        </p:txBody>
      </p:sp>
      <p:sp>
        <p:nvSpPr>
          <p:cNvPr id="27" name="Text 21"/>
          <p:cNvSpPr/>
          <p:nvPr/>
        </p:nvSpPr>
        <p:spPr>
          <a:xfrm>
            <a:off x="9217152" y="4114800"/>
            <a:ext cx="227685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vía IQR; distinguidos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extremos válidos y</a:t>
            </a:r>
            <a:endParaRPr lang="en-US" sz="108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08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inválidos</a:t>
            </a:r>
            <a:endParaRPr lang="en-US" sz="1080" dirty="0"/>
          </a:p>
        </p:txBody>
      </p:sp>
      <p:sp>
        <p:nvSpPr>
          <p:cNvPr id="28" name="Text 22"/>
          <p:cNvSpPr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Ningún problema supera el 5% de los registros por variable de forma aislada, pero en conjunto exigen un tratamiento estructurado antes de cualquier análisis o modelo.</a:t>
            </a:r>
            <a:endParaRPr lang="en-US" sz="125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faltantes por variable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685800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463040"/>
            <a:ext cx="3977640" cy="4480560"/>
          </a:xfrm>
          <a:prstGeom prst="roundRect">
            <a:avLst>
              <a:gd name="adj" fmla="val 2299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7909560" y="16916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clave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09560" y="2103120"/>
            <a:ext cx="3520440" cy="3703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features presentan nulos: entre 1,4% y 4,4% de los registros.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AssignmentsCompleted y StudyHours son las más afectadas.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(target) no tiene valores nulos.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variable supera el 5% → no se justifica eliminar columnas.</a:t>
            </a:r>
            <a:endParaRPr lang="en-US" sz="1150" dirty="0"/>
          </a:p>
          <a:p>
            <a:pPr marL="342900" indent="-342900">
              <a:spcAft>
                <a:spcPts val="10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Estrategia: imputación (mediana en numéricas, moda en categóricas) dentro del Pipeline.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Duplicados e inconsistencias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66160" cy="4343400"/>
          </a:xfrm>
          <a:prstGeom prst="roundRect">
            <a:avLst>
              <a:gd name="adj" fmla="val 3077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1920240" y="1874520"/>
            <a:ext cx="822960" cy="822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cop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1291" y="2055571"/>
            <a:ext cx="460858" cy="46085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83464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totalmente</a:t>
            </a:r>
            <a:endParaRPr lang="en-US" sz="13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 (1,96%)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68680" y="4434840"/>
            <a:ext cx="29260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00" i="1" dirty="0">
                <a:solidFill>
                  <a:srgbClr val="B9C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 exactamente en StudentID y en el resto de las columnas → misma observación repetida. Se eliminan conservando la primera ocurrencia.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343400" y="1600200"/>
            <a:ext cx="7269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 de dominio detectadas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43400" y="2103120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2" name="Text 9"/>
          <p:cNvSpPr/>
          <p:nvPr/>
        </p:nvSpPr>
        <p:spPr>
          <a:xfrm>
            <a:off x="4526280" y="210312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Scholarship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309360" y="2103120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inconsistente ('SI', 'no ', 'SÍ ')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10652760" y="2103120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343400" y="2724912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6" name="Text 13"/>
          <p:cNvSpPr/>
          <p:nvPr/>
        </p:nvSpPr>
        <p:spPr>
          <a:xfrm>
            <a:off x="4526280" y="2724912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09360" y="2724912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tildes, mayúsculas, espacios extra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652760" y="2724912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343400" y="3346704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0" name="Text 17"/>
          <p:cNvSpPr/>
          <p:nvPr/>
        </p:nvSpPr>
        <p:spPr>
          <a:xfrm>
            <a:off x="4526280" y="3346704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09360" y="3346704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rango [0, 100] (negativos y &gt; 100)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0652760" y="3346704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343400" y="3968496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4" name="Text 21"/>
          <p:cNvSpPr/>
          <p:nvPr/>
        </p:nvSpPr>
        <p:spPr>
          <a:xfrm>
            <a:off x="4526280" y="3968496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SleepHours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09360" y="3968496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de sueño negativas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10652760" y="3968496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4343400" y="4590288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28" name="Text 25"/>
          <p:cNvSpPr/>
          <p:nvPr/>
        </p:nvSpPr>
        <p:spPr>
          <a:xfrm>
            <a:off x="4526280" y="4590288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InternetHours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09360" y="4590288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24 horas diarias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10652760" y="4590288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4343400" y="5212080"/>
            <a:ext cx="726948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32" name="Text 29"/>
          <p:cNvSpPr/>
          <p:nvPr/>
        </p:nvSpPr>
        <p:spPr>
          <a:xfrm>
            <a:off x="4526280" y="5212080"/>
            <a:ext cx="1737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6309360" y="5212080"/>
            <a:ext cx="42519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la escala [1, 10]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10652760" y="5212080"/>
            <a:ext cx="77724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DIAGNÓSTICO DE CALIDAD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Valores atípicos (outliers) — método IQR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667512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406640" y="1417320"/>
            <a:ext cx="4206240" cy="4160520"/>
          </a:xfrm>
          <a:prstGeom prst="roundRect">
            <a:avLst>
              <a:gd name="adj" fmla="val 2198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7680960" y="16276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Extremo válido ≠ valor inválido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680960" y="205740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(35–80 años): </a:t>
            </a:r>
            <a:r>
              <a:rPr lang="en-US" sz="10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 estadístico pero real → NO se winsoriza, solo se imputan nulos.</a:t>
            </a:r>
            <a:endParaRPr lang="en-US" sz="1080" dirty="0"/>
          </a:p>
        </p:txBody>
      </p:sp>
      <p:sp>
        <p:nvSpPr>
          <p:cNvPr id="8" name="Text 5"/>
          <p:cNvSpPr/>
          <p:nvPr/>
        </p:nvSpPr>
        <p:spPr>
          <a:xfrm>
            <a:off x="7680960" y="310896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StudyHours, Attendance, PreviousGPA, AssignmentsCompleted, SleepHours, InternetHours: </a:t>
            </a:r>
            <a:r>
              <a:rPr lang="en-US" sz="10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colas de comportamiento → SÍ se acotan (capping IQR) dentro del Pipeline.</a:t>
            </a:r>
            <a:endParaRPr lang="en-US" sz="1080" dirty="0"/>
          </a:p>
        </p:txBody>
      </p:sp>
      <p:sp>
        <p:nvSpPr>
          <p:cNvPr id="9" name="Text 6"/>
          <p:cNvSpPr/>
          <p:nvPr/>
        </p:nvSpPr>
        <p:spPr>
          <a:xfrm>
            <a:off x="7680960" y="4160520"/>
            <a:ext cx="3657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8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(target): </a:t>
            </a:r>
            <a:r>
              <a:rPr lang="en-US" sz="10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extremos válidos se conservan; no se transforma el objetivo.</a:t>
            </a:r>
            <a:endParaRPr lang="en-US" sz="1080" dirty="0"/>
          </a:p>
        </p:txBody>
      </p:sp>
      <p:sp>
        <p:nvSpPr>
          <p:cNvPr id="10" name="Text 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ANÁLISIS EXPLORATORIO (EDA)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Distribución de FinalGrade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17320"/>
          <a:ext cx="73152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417320"/>
            <a:ext cx="3520440" cy="2011680"/>
          </a:xfrm>
          <a:prstGeom prst="roundRect">
            <a:avLst>
              <a:gd name="adj" fmla="val 4545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8092440" y="1627632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4,17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183880" y="2359152"/>
            <a:ext cx="3337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promedio (FinalGrade)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8092440" y="361188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Text 6"/>
          <p:cNvSpPr/>
          <p:nvPr/>
        </p:nvSpPr>
        <p:spPr>
          <a:xfrm>
            <a:off x="8321040" y="3794760"/>
            <a:ext cx="3108960" cy="1783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aproximadamente normal, con mediana similar a la media (≈4,2). El estudiante típico se ubica justo sobre el umbral de aprobación (4,0), pero existe un grupo relevante por debajo.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ANÁLISIS EXPLORATORIO (EDA)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 con el rendimiento académico</a:t>
            </a:r>
            <a:endParaRPr lang="en-US" sz="30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548640" y="1463040"/>
          <a:ext cx="685800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Shape 2"/>
          <p:cNvSpPr/>
          <p:nvPr/>
        </p:nvSpPr>
        <p:spPr>
          <a:xfrm>
            <a:off x="7635240" y="1463040"/>
            <a:ext cx="3977640" cy="4206240"/>
          </a:xfrm>
          <a:prstGeom prst="roundRect">
            <a:avLst>
              <a:gd name="adj" fmla="val 2299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6" name="Text 3"/>
          <p:cNvSpPr/>
          <p:nvPr/>
        </p:nvSpPr>
        <p:spPr>
          <a:xfrm>
            <a:off x="7909560" y="169164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 la matriz de correlación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7909560" y="2286000"/>
            <a:ext cx="3520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y StudyHours muestran la asociación positiva más fuerte con FinalGrade.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PreviousGPA y AssignmentsCompleted también se asocian positivamente.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InternetHours es la excepción: relación negativa débil (r ≈ -0,18).</a:t>
            </a:r>
            <a:endParaRPr lang="en-US" sz="115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gráficos de dispersión confirman una tendencia positiva y razonablemente lineal.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PREGUNTAS DE INVESTIGACIÓN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P1 — Beca   ·   P2 — Programa académico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ques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810512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¿Difiere el rendimiento entre becados y no becados?</a:t>
            </a:r>
            <a:endParaRPr lang="en-US" sz="145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868680" y="2514600"/>
          <a:ext cx="484632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/>
          <p:nvPr/>
        </p:nvSpPr>
        <p:spPr>
          <a:xfrm>
            <a:off x="868680" y="4572000"/>
            <a:ext cx="48463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Diferencia: </a:t>
            </a:r>
            <a:r>
              <a:rPr lang="en-US" sz="118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+0,293 puntos </a:t>
            </a:r>
            <a:r>
              <a:rPr lang="en-US" sz="118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 de los becados (t de Welch, p &lt; 0,05 → significativo, aunque de magnitud moderada).</a:t>
            </a:r>
            <a:endParaRPr lang="en-US" sz="1180" dirty="0"/>
          </a:p>
        </p:txBody>
      </p:sp>
      <p:sp>
        <p:nvSpPr>
          <p:cNvPr id="10" name="Shape 6"/>
          <p:cNvSpPr/>
          <p:nvPr/>
        </p:nvSpPr>
        <p:spPr>
          <a:xfrm>
            <a:off x="6172200" y="1554480"/>
            <a:ext cx="5468112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3E9F3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11" name="Shape 7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icons/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1244" y="1907804"/>
            <a:ext cx="317480" cy="317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78040" y="181051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¿Qué programa presenta mejor rendimiento?</a:t>
            </a:r>
            <a:endParaRPr lang="en-US" sz="1450" dirty="0"/>
          </a:p>
        </p:txBody>
      </p:sp>
      <p:graphicFrame>
        <p:nvGraphicFramePr>
          <p:cNvPr id="14" name="Chart 1"/>
          <p:cNvGraphicFramePr/>
          <p:nvPr/>
        </p:nvGraphicFramePr>
        <p:xfrm>
          <a:off x="6492240" y="2514600"/>
          <a:ext cx="49377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5" name="Text 9"/>
          <p:cNvSpPr/>
          <p:nvPr/>
        </p:nvSpPr>
        <p:spPr>
          <a:xfrm>
            <a:off x="6492240" y="5257800"/>
            <a:ext cx="4937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Administración </a:t>
            </a: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lidera (4,232) y </a:t>
            </a:r>
            <a:r>
              <a:rPr lang="en-US" sz="1150" b="1" dirty="0">
                <a:solidFill>
                  <a:srgbClr val="C05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Contador Auditor </a:t>
            </a: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más bajo (4,046) → diferencia de 0,186 puntos.</a:t>
            </a:r>
            <a:endParaRPr lang="en-US" sz="1150" dirty="0"/>
          </a:p>
        </p:txBody>
      </p:sp>
      <p:sp>
        <p:nvSpPr>
          <p:cNvPr id="16" name="Text 10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PREGUNTAS DE INVESTIGACIÓN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P3 — Horas de estudio   ·   P4 — Asistencia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94960" cy="4297680"/>
          </a:xfrm>
          <a:prstGeom prst="roundRect">
            <a:avLst>
              <a:gd name="adj" fmla="val 2553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822960" y="1783080"/>
            <a:ext cx="566928" cy="566928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684" y="1907804"/>
            <a:ext cx="317480" cy="317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1810512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StudyHours vs. FinalGrade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22960" y="2606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0,494</a:t>
            </a:r>
            <a:endParaRPr lang="en-US" sz="3400" dirty="0"/>
          </a:p>
        </p:txBody>
      </p:sp>
      <p:sp>
        <p:nvSpPr>
          <p:cNvPr id="9" name="Text 6"/>
          <p:cNvSpPr/>
          <p:nvPr/>
        </p:nvSpPr>
        <p:spPr>
          <a:xfrm>
            <a:off x="822960" y="33101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(r)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3337560" y="2606040"/>
            <a:ext cx="23774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0,711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3337560" y="3310128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Spearman (ρ)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868680" y="388620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Relación positiva de intensidad moderada: a más horas semanales de estudio, mayor calificación final. La consistencia entre Pearson y Spearman indica una tendencia monótona, no dominada por outliers.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72200" y="1554480"/>
            <a:ext cx="5468112" cy="4297680"/>
          </a:xfrm>
          <a:prstGeom prst="roundRect">
            <a:avLst>
              <a:gd name="adj" fmla="val 2553"/>
            </a:avLst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4" name="Shape 11"/>
          <p:cNvSpPr/>
          <p:nvPr/>
        </p:nvSpPr>
        <p:spPr>
          <a:xfrm>
            <a:off x="6446520" y="1783080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5" name="Image 1" descr="icons/targ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1244" y="1907804"/>
            <a:ext cx="317480" cy="31748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1810512"/>
            <a:ext cx="4297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 vs. FinalGrade</a:t>
            </a:r>
            <a:endParaRPr lang="en-US" sz="15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6492240" y="2468880"/>
          <a:ext cx="49377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18" name="Text 13"/>
          <p:cNvSpPr/>
          <p:nvPr/>
        </p:nvSpPr>
        <p:spPr>
          <a:xfrm>
            <a:off x="6492240" y="4983480"/>
            <a:ext cx="4937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= 0,614. </a:t>
            </a:r>
            <a:r>
              <a:rPr lang="en-US" sz="115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FinalGrade promedio crece de forma consistente desde el cuartil de menor asistencia (Q1) hasta el de mayor (Q4).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5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INTERPRETACIÓN DEL EDA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conclusiones generales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39312" cy="3931920"/>
          </a:xfrm>
          <a:prstGeom prst="roundRect">
            <a:avLst>
              <a:gd name="adj" fmla="val 3015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5" name="Shape 3"/>
          <p:cNvSpPr/>
          <p:nvPr/>
        </p:nvSpPr>
        <p:spPr>
          <a:xfrm>
            <a:off x="2002536" y="214884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6" name="Image 0" descr="icons/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470" y="2309774"/>
            <a:ext cx="409651" cy="40965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2148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154680"/>
            <a:ext cx="3090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esfuerzo durante el curso importa tanto como el historial previo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68680" y="4251960"/>
            <a:ext cx="2999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StudyHours y Attendance se correlacionan con FinalGrade en una magnitud comparable a PreviousGPA.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5112" y="1828800"/>
            <a:ext cx="3639312" cy="3931920"/>
          </a:xfrm>
          <a:prstGeom prst="roundRect">
            <a:avLst>
              <a:gd name="adj" fmla="val 3015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1" name="Shape 8"/>
          <p:cNvSpPr/>
          <p:nvPr/>
        </p:nvSpPr>
        <p:spPr>
          <a:xfrm>
            <a:off x="5779008" y="214884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2" name="Image 1" descr="icons/bal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9942" y="2309774"/>
            <a:ext cx="409651" cy="4096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53712" y="2148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599432" y="3154680"/>
            <a:ext cx="3090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brecha por beca es significativa pero moderada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4645152" y="4251960"/>
            <a:ext cx="2999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+0,293 puntos a favor de los becados (p &lt; 0,05), un efecto real pero acotado en términos absolutos.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01584" y="1828800"/>
            <a:ext cx="3639312" cy="3931920"/>
          </a:xfrm>
          <a:prstGeom prst="roundRect">
            <a:avLst>
              <a:gd name="adj" fmla="val 3015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7" name="Shape 13"/>
          <p:cNvSpPr/>
          <p:nvPr/>
        </p:nvSpPr>
        <p:spPr>
          <a:xfrm>
            <a:off x="9555480" y="2148840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8" name="Image 2" descr="icons/boo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16414" y="2309774"/>
            <a:ext cx="409651" cy="40965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30184" y="2148840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A4A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375904" y="3154680"/>
            <a:ext cx="3090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Existe heterogeneidad entre programas académicos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8421624" y="4251960"/>
            <a:ext cx="299923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0,186 puntos de diferencia entre Administración y Contador Auditor: un factor relevante a considerar.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TRATAMIENTO DE LOS DATOS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Principales decisiones de tratamiento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2743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291840" y="1481328"/>
            <a:ext cx="23317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23560" y="1481328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JUSTIFICACIÓN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0" y="1481328"/>
            <a:ext cx="1600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01368"/>
            <a:ext cx="11109960" cy="0"/>
          </a:xfrm>
          <a:prstGeom prst="line">
            <a:avLst/>
          </a:prstGeom>
          <a:noFill/>
          <a:ln w="15875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9" name="Shape 7"/>
          <p:cNvSpPr/>
          <p:nvPr/>
        </p:nvSpPr>
        <p:spPr>
          <a:xfrm>
            <a:off x="548640" y="1874520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621792" y="1901952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</a:t>
            </a:r>
            <a:endParaRPr lang="en-US" sz="990" dirty="0"/>
          </a:p>
        </p:txBody>
      </p:sp>
      <p:sp>
        <p:nvSpPr>
          <p:cNvPr id="11" name="Text 9"/>
          <p:cNvSpPr/>
          <p:nvPr/>
        </p:nvSpPr>
        <p:spPr>
          <a:xfrm>
            <a:off x="3364992" y="1901952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drop_duplicates()</a:t>
            </a:r>
            <a:endParaRPr lang="en-US" sz="990" dirty="0"/>
          </a:p>
        </p:txBody>
      </p:sp>
      <p:sp>
        <p:nvSpPr>
          <p:cNvPr id="12" name="Text 10"/>
          <p:cNvSpPr/>
          <p:nvPr/>
        </p:nvSpPr>
        <p:spPr>
          <a:xfrm>
            <a:off x="5696712" y="1901952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observación repetida; conservarla duplicaría su peso estadístico</a:t>
            </a: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10131552" y="1901952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pipeline</a:t>
            </a:r>
            <a:endParaRPr lang="en-US" sz="990" dirty="0"/>
          </a:p>
        </p:txBody>
      </p:sp>
      <p:sp>
        <p:nvSpPr>
          <p:cNvPr id="14" name="Text 12"/>
          <p:cNvSpPr/>
          <p:nvPr/>
        </p:nvSpPr>
        <p:spPr>
          <a:xfrm>
            <a:off x="621792" y="2418588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FinalGrade inválido</a:t>
            </a:r>
            <a:endParaRPr lang="en-US" sz="990" dirty="0"/>
          </a:p>
        </p:txBody>
      </p:sp>
      <p:sp>
        <p:nvSpPr>
          <p:cNvPr id="15" name="Text 13"/>
          <p:cNvSpPr/>
          <p:nvPr/>
        </p:nvSpPr>
        <p:spPr>
          <a:xfrm>
            <a:off x="3364992" y="2418588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fila (4 filas)</a:t>
            </a:r>
            <a:endParaRPr lang="en-US" sz="990" dirty="0"/>
          </a:p>
        </p:txBody>
      </p:sp>
      <p:sp>
        <p:nvSpPr>
          <p:cNvPr id="16" name="Text 14"/>
          <p:cNvSpPr/>
          <p:nvPr/>
        </p:nvSpPr>
        <p:spPr>
          <a:xfrm>
            <a:off x="5696712" y="2418588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target: no se imputa sin sesgo arbitrario; pérdida mínima (0,08%)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10131552" y="2418588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del pipeline</a:t>
            </a:r>
            <a:endParaRPr lang="en-US" sz="990" dirty="0"/>
          </a:p>
        </p:txBody>
      </p:sp>
      <p:sp>
        <p:nvSpPr>
          <p:cNvPr id="18" name="Shape 16"/>
          <p:cNvSpPr/>
          <p:nvPr/>
        </p:nvSpPr>
        <p:spPr>
          <a:xfrm>
            <a:off x="548640" y="2907792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9" name="Text 17"/>
          <p:cNvSpPr/>
          <p:nvPr/>
        </p:nvSpPr>
        <p:spPr>
          <a:xfrm>
            <a:off x="621792" y="2935224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en Scholarship / Program</a:t>
            </a:r>
            <a:endParaRPr lang="en-US" sz="990" dirty="0"/>
          </a:p>
        </p:txBody>
      </p:sp>
      <p:sp>
        <p:nvSpPr>
          <p:cNvPr id="20" name="Text 18"/>
          <p:cNvSpPr/>
          <p:nvPr/>
        </p:nvSpPr>
        <p:spPr>
          <a:xfrm>
            <a:off x="3364992" y="2935224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a catálogo canónico</a:t>
            </a:r>
            <a:endParaRPr lang="en-US" sz="990" dirty="0"/>
          </a:p>
        </p:txBody>
      </p:sp>
      <p:sp>
        <p:nvSpPr>
          <p:cNvPr id="21" name="Text 19"/>
          <p:cNvSpPr/>
          <p:nvPr/>
        </p:nvSpPr>
        <p:spPr>
          <a:xfrm>
            <a:off x="5696712" y="2935224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categoría semántica escrita de formas distintas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10131552" y="2935224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QualityCleaner</a:t>
            </a:r>
            <a:endParaRPr lang="en-US" sz="990" dirty="0"/>
          </a:p>
        </p:txBody>
      </p:sp>
      <p:sp>
        <p:nvSpPr>
          <p:cNvPr id="23" name="Text 21"/>
          <p:cNvSpPr/>
          <p:nvPr/>
        </p:nvSpPr>
        <p:spPr>
          <a:xfrm>
            <a:off x="621792" y="3451860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 en Attendance / SleepHours</a:t>
            </a:r>
            <a:endParaRPr lang="en-US" sz="990" dirty="0"/>
          </a:p>
        </p:txBody>
      </p:sp>
      <p:sp>
        <p:nvSpPr>
          <p:cNvPr id="24" name="Text 22"/>
          <p:cNvSpPr/>
          <p:nvPr/>
        </p:nvSpPr>
        <p:spPr>
          <a:xfrm>
            <a:off x="3364992" y="3451860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 absoluto</a:t>
            </a:r>
            <a:endParaRPr lang="en-US" sz="990" dirty="0"/>
          </a:p>
        </p:txBody>
      </p:sp>
      <p:sp>
        <p:nvSpPr>
          <p:cNvPr id="25" name="Text 23"/>
          <p:cNvSpPr/>
          <p:nvPr/>
        </p:nvSpPr>
        <p:spPr>
          <a:xfrm>
            <a:off x="5696712" y="3451860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absoluto cae en un rango físicamente plausible</a:t>
            </a:r>
            <a:endParaRPr lang="en-US" sz="970" dirty="0"/>
          </a:p>
        </p:txBody>
      </p:sp>
      <p:sp>
        <p:nvSpPr>
          <p:cNvPr id="26" name="Text 24"/>
          <p:cNvSpPr/>
          <p:nvPr/>
        </p:nvSpPr>
        <p:spPr>
          <a:xfrm>
            <a:off x="10131552" y="3451860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QualityCleaner</a:t>
            </a:r>
            <a:endParaRPr lang="en-US" sz="990" dirty="0"/>
          </a:p>
        </p:txBody>
      </p:sp>
      <p:sp>
        <p:nvSpPr>
          <p:cNvPr id="27" name="Shape 25"/>
          <p:cNvSpPr/>
          <p:nvPr/>
        </p:nvSpPr>
        <p:spPr>
          <a:xfrm>
            <a:off x="548640" y="3941064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8" name="Text 26"/>
          <p:cNvSpPr/>
          <p:nvPr/>
        </p:nvSpPr>
        <p:spPr>
          <a:xfrm>
            <a:off x="621792" y="3968496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dominio (Attendance&gt;100, InternetHours&gt;24)</a:t>
            </a:r>
            <a:endParaRPr lang="en-US" sz="990" dirty="0"/>
          </a:p>
        </p:txBody>
      </p:sp>
      <p:sp>
        <p:nvSpPr>
          <p:cNvPr id="29" name="Text 27"/>
          <p:cNvSpPr/>
          <p:nvPr/>
        </p:nvSpPr>
        <p:spPr>
          <a:xfrm>
            <a:off x="3364992" y="3968496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Marcar como NaN</a:t>
            </a:r>
            <a:endParaRPr lang="en-US" sz="990" dirty="0"/>
          </a:p>
        </p:txBody>
      </p:sp>
      <p:sp>
        <p:nvSpPr>
          <p:cNvPr id="30" name="Text 28"/>
          <p:cNvSpPr/>
          <p:nvPr/>
        </p:nvSpPr>
        <p:spPr>
          <a:xfrm>
            <a:off x="5696712" y="3968496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Físicamente imposibles, sin corrección de signo/escala evidente</a:t>
            </a:r>
            <a:endParaRPr lang="en-US" sz="970" dirty="0"/>
          </a:p>
        </p:txBody>
      </p:sp>
      <p:sp>
        <p:nvSpPr>
          <p:cNvPr id="31" name="Text 29"/>
          <p:cNvSpPr/>
          <p:nvPr/>
        </p:nvSpPr>
        <p:spPr>
          <a:xfrm>
            <a:off x="10131552" y="3968496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QualityCleaner</a:t>
            </a:r>
            <a:endParaRPr lang="en-US" sz="990" dirty="0"/>
          </a:p>
        </p:txBody>
      </p:sp>
      <p:sp>
        <p:nvSpPr>
          <p:cNvPr id="32" name="Text 30"/>
          <p:cNvSpPr/>
          <p:nvPr/>
        </p:nvSpPr>
        <p:spPr>
          <a:xfrm>
            <a:off x="621792" y="4485132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faltantes</a:t>
            </a:r>
            <a:endParaRPr lang="en-US" sz="990" dirty="0"/>
          </a:p>
        </p:txBody>
      </p:sp>
      <p:sp>
        <p:nvSpPr>
          <p:cNvPr id="33" name="Text 31"/>
          <p:cNvSpPr/>
          <p:nvPr/>
        </p:nvSpPr>
        <p:spPr>
          <a:xfrm>
            <a:off x="3364992" y="4485132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mediana / moda</a:t>
            </a:r>
            <a:endParaRPr lang="en-US" sz="990" dirty="0"/>
          </a:p>
        </p:txBody>
      </p:sp>
      <p:sp>
        <p:nvSpPr>
          <p:cNvPr id="34" name="Text 32"/>
          <p:cNvSpPr/>
          <p:nvPr/>
        </p:nvSpPr>
        <p:spPr>
          <a:xfrm>
            <a:off x="5696712" y="4485132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Nulos dispersos (&lt;5%) en todas las variables</a:t>
            </a:r>
            <a:endParaRPr lang="en-US" sz="970" dirty="0"/>
          </a:p>
        </p:txBody>
      </p:sp>
      <p:sp>
        <p:nvSpPr>
          <p:cNvPr id="35" name="Text 33"/>
          <p:cNvSpPr/>
          <p:nvPr/>
        </p:nvSpPr>
        <p:spPr>
          <a:xfrm>
            <a:off x="10131552" y="4485132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ColumnTransformer</a:t>
            </a:r>
            <a:endParaRPr lang="en-US" sz="990" dirty="0"/>
          </a:p>
        </p:txBody>
      </p:sp>
      <p:sp>
        <p:nvSpPr>
          <p:cNvPr id="36" name="Shape 34"/>
          <p:cNvSpPr/>
          <p:nvPr/>
        </p:nvSpPr>
        <p:spPr>
          <a:xfrm>
            <a:off x="548640" y="4974336"/>
            <a:ext cx="11109960" cy="516636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7" name="Text 35"/>
          <p:cNvSpPr/>
          <p:nvPr/>
        </p:nvSpPr>
        <p:spPr>
          <a:xfrm>
            <a:off x="621792" y="5001768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de comportamiento</a:t>
            </a:r>
            <a:endParaRPr lang="en-US" sz="990" dirty="0"/>
          </a:p>
        </p:txBody>
      </p:sp>
      <p:sp>
        <p:nvSpPr>
          <p:cNvPr id="38" name="Text 36"/>
          <p:cNvSpPr/>
          <p:nvPr/>
        </p:nvSpPr>
        <p:spPr>
          <a:xfrm>
            <a:off x="3364992" y="5001768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Capping IQR (winsorización)</a:t>
            </a:r>
            <a:endParaRPr lang="en-US" sz="990" dirty="0"/>
          </a:p>
        </p:txBody>
      </p:sp>
      <p:sp>
        <p:nvSpPr>
          <p:cNvPr id="39" name="Text 37"/>
          <p:cNvSpPr/>
          <p:nvPr/>
        </p:nvSpPr>
        <p:spPr>
          <a:xfrm>
            <a:off x="5696712" y="5001768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Acota su influencia sin descartar la observación</a:t>
            </a:r>
            <a:endParaRPr lang="en-US" sz="970" dirty="0"/>
          </a:p>
        </p:txBody>
      </p:sp>
      <p:sp>
        <p:nvSpPr>
          <p:cNvPr id="40" name="Text 38"/>
          <p:cNvSpPr/>
          <p:nvPr/>
        </p:nvSpPr>
        <p:spPr>
          <a:xfrm>
            <a:off x="10131552" y="5001768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IQRCapper</a:t>
            </a:r>
            <a:endParaRPr lang="en-US" sz="990" dirty="0"/>
          </a:p>
        </p:txBody>
      </p:sp>
      <p:sp>
        <p:nvSpPr>
          <p:cNvPr id="41" name="Text 39"/>
          <p:cNvSpPr/>
          <p:nvPr/>
        </p:nvSpPr>
        <p:spPr>
          <a:xfrm>
            <a:off x="621792" y="5518404"/>
            <a:ext cx="2633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y FinalGrade (outliers)</a:t>
            </a:r>
            <a:endParaRPr lang="en-US" sz="990" dirty="0"/>
          </a:p>
        </p:txBody>
      </p:sp>
      <p:sp>
        <p:nvSpPr>
          <p:cNvPr id="42" name="Text 40"/>
          <p:cNvSpPr/>
          <p:nvPr/>
        </p:nvSpPr>
        <p:spPr>
          <a:xfrm>
            <a:off x="3364992" y="5518404"/>
            <a:ext cx="222199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acotan</a:t>
            </a:r>
            <a:endParaRPr lang="en-US" sz="990" dirty="0"/>
          </a:p>
        </p:txBody>
      </p:sp>
      <p:sp>
        <p:nvSpPr>
          <p:cNvPr id="43" name="Text 41"/>
          <p:cNvSpPr/>
          <p:nvPr/>
        </p:nvSpPr>
        <p:spPr>
          <a:xfrm>
            <a:off x="5696712" y="5518404"/>
            <a:ext cx="432511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7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 demográfico real / variable objetivo: no corresponde alterarlos</a:t>
            </a:r>
            <a:endParaRPr lang="en-US" sz="970" dirty="0"/>
          </a:p>
        </p:txBody>
      </p:sp>
      <p:sp>
        <p:nvSpPr>
          <p:cNvPr id="44" name="Text 42"/>
          <p:cNvSpPr/>
          <p:nvPr/>
        </p:nvSpPr>
        <p:spPr>
          <a:xfrm>
            <a:off x="10131552" y="5518404"/>
            <a:ext cx="1490472" cy="5166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9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tratamiento</a:t>
            </a:r>
            <a:endParaRPr lang="en-US" sz="990" dirty="0"/>
          </a:p>
        </p:txBody>
      </p:sp>
      <p:sp>
        <p:nvSpPr>
          <p:cNvPr id="45" name="Text 4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IMPLEMENTACIÓN CON SCIKIT-LEARN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3317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D9502F"/>
            </a:solidFill>
            <a:prstDash val="dash"/>
          </a:ln>
        </p:spPr>
        <p:txBody>
          <a:bodyPr/>
          <a:lstStyle/>
          <a:p>
            <a:endParaRPr lang="es-CL"/>
          </a:p>
        </p:txBody>
      </p:sp>
      <p:sp>
        <p:nvSpPr>
          <p:cNvPr id="5" name="Text 3"/>
          <p:cNvSpPr/>
          <p:nvPr/>
        </p:nvSpPr>
        <p:spPr>
          <a:xfrm>
            <a:off x="685800" y="164592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057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del Pipeline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85800" y="1920240"/>
            <a:ext cx="20574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Eliminar duplicados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FinalGrade inválido</a:t>
            </a:r>
            <a:endParaRPr lang="en-US" sz="10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(cambian el N° de filas)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6324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3634740" y="178308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9" name="Image 0" descr="icons/co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5558" y="1923898"/>
            <a:ext cx="358445" cy="35844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313639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QualityCleaner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315468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 texto, corrige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signo, marca NaN fuera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dominio</a:t>
            </a:r>
            <a:endParaRPr lang="en-US" sz="930" dirty="0"/>
          </a:p>
        </p:txBody>
      </p:sp>
      <p:sp>
        <p:nvSpPr>
          <p:cNvPr id="12" name="Text 9"/>
          <p:cNvSpPr/>
          <p:nvPr/>
        </p:nvSpPr>
        <p:spPr>
          <a:xfrm>
            <a:off x="4846320" y="278892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9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16636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14" name="Shape 11"/>
          <p:cNvSpPr/>
          <p:nvPr/>
        </p:nvSpPr>
        <p:spPr>
          <a:xfrm>
            <a:off x="5737860" y="17830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15" name="Image 1" descr="icons/fil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678" y="1923898"/>
            <a:ext cx="358445" cy="358445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23951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</a:t>
            </a:r>
            <a:endParaRPr lang="en-US" sz="115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(ColumnTransformer)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525780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Imputación + capping IQR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variables de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comportamiento</a:t>
            </a:r>
            <a:endParaRPr lang="en-US" sz="930" dirty="0"/>
          </a:p>
        </p:txBody>
      </p:sp>
      <p:sp>
        <p:nvSpPr>
          <p:cNvPr id="18" name="Text 14"/>
          <p:cNvSpPr/>
          <p:nvPr/>
        </p:nvSpPr>
        <p:spPr>
          <a:xfrm>
            <a:off x="6949440" y="278892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9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5"/>
          <p:cNvSpPr/>
          <p:nvPr/>
        </p:nvSpPr>
        <p:spPr>
          <a:xfrm>
            <a:off x="726948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0" name="Shape 16"/>
          <p:cNvSpPr/>
          <p:nvPr/>
        </p:nvSpPr>
        <p:spPr>
          <a:xfrm>
            <a:off x="7840980" y="1783080"/>
            <a:ext cx="640080" cy="640080"/>
          </a:xfrm>
          <a:prstGeom prst="ellipse">
            <a:avLst/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1" name="Image 2" descr="icons/puzz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1798" y="1923898"/>
            <a:ext cx="358445" cy="35844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734263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to_dataframe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736092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Reconstruye nombres y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columna</a:t>
            </a:r>
            <a:endParaRPr lang="en-US" sz="930" dirty="0"/>
          </a:p>
        </p:txBody>
      </p:sp>
      <p:sp>
        <p:nvSpPr>
          <p:cNvPr id="24" name="Text 19"/>
          <p:cNvSpPr/>
          <p:nvPr/>
        </p:nvSpPr>
        <p:spPr>
          <a:xfrm>
            <a:off x="9052560" y="2788920"/>
            <a:ext cx="320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AEB9C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2000" dirty="0"/>
          </a:p>
        </p:txBody>
      </p:sp>
      <p:sp>
        <p:nvSpPr>
          <p:cNvPr id="25" name="Shape 20"/>
          <p:cNvSpPr/>
          <p:nvPr/>
        </p:nvSpPr>
        <p:spPr>
          <a:xfrm>
            <a:off x="9372600" y="1554480"/>
            <a:ext cx="1783080" cy="3017520"/>
          </a:xfrm>
          <a:prstGeom prst="roundRect">
            <a:avLst>
              <a:gd name="adj" fmla="val 5128"/>
            </a:avLst>
          </a:prstGeom>
          <a:solidFill>
            <a:srgbClr val="FFFFFF"/>
          </a:solidFill>
          <a:ln/>
          <a:effectLst>
            <a:outerShdw blurRad="63500" dist="25400" dir="5400000" algn="bl" rotWithShape="0">
              <a:srgbClr val="8C97AC">
                <a:alpha val="20000"/>
              </a:srgbClr>
            </a:outerShdw>
          </a:effectLst>
        </p:spPr>
        <p:txBody>
          <a:bodyPr/>
          <a:lstStyle/>
          <a:p>
            <a:endParaRPr lang="es-CL"/>
          </a:p>
        </p:txBody>
      </p:sp>
      <p:sp>
        <p:nvSpPr>
          <p:cNvPr id="26" name="Shape 21"/>
          <p:cNvSpPr/>
          <p:nvPr/>
        </p:nvSpPr>
        <p:spPr>
          <a:xfrm>
            <a:off x="9944100" y="178308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27" name="Image 3" descr="icons/ch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4918" y="1923898"/>
            <a:ext cx="358445" cy="35844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9445752" y="2560320"/>
            <a:ext cx="1636776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scale_encode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9464040" y="3200400"/>
            <a:ext cx="1600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+</a:t>
            </a:r>
            <a:endParaRPr lang="en-US" sz="93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93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en-US" sz="930" dirty="0"/>
          </a:p>
        </p:txBody>
      </p:sp>
      <p:sp>
        <p:nvSpPr>
          <p:cNvPr id="30" name="Shape 24"/>
          <p:cNvSpPr/>
          <p:nvPr/>
        </p:nvSpPr>
        <p:spPr>
          <a:xfrm>
            <a:off x="548640" y="4892040"/>
            <a:ext cx="11109960" cy="1417320"/>
          </a:xfrm>
          <a:prstGeom prst="roundRect">
            <a:avLst>
              <a:gd name="adj" fmla="val 6452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1" name="Text 25"/>
          <p:cNvSpPr/>
          <p:nvPr/>
        </p:nvSpPr>
        <p:spPr>
          <a:xfrm>
            <a:off x="868680" y="5047488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duplicados y FinalGrade inválido quedan fuera del Pipeline?</a:t>
            </a:r>
            <a:endParaRPr lang="en-US" sz="1150" dirty="0"/>
          </a:p>
        </p:txBody>
      </p:sp>
      <p:sp>
        <p:nvSpPr>
          <p:cNvPr id="32" name="Text 26"/>
          <p:cNvSpPr/>
          <p:nvPr/>
        </p:nvSpPr>
        <p:spPr>
          <a:xfrm>
            <a:off x="868680" y="5367528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Transformer de scikit-learn debe devolver siempre el mismo número de filas que recibió (requisito de ColumnTransformer, validación cruzada y predicción sobre una fila nueva). Como esas dos correcciones eliminan filas, se aplican de forma explícita y justificada antes del Pipeline; todo lo demás sí queda encapsulado y es reproducible con un único fit().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DATASET FINAL Y EVIDENCIA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Comparación: dataset original vs. tratado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754880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400800" y="160020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TRATADO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7498080" cy="0"/>
          </a:xfrm>
          <a:prstGeom prst="line">
            <a:avLst/>
          </a:prstGeom>
          <a:noFill/>
          <a:ln w="15875">
            <a:solidFill>
              <a:srgbClr val="D9E1EC"/>
            </a:solidFill>
            <a:prstDash val="solid"/>
          </a:ln>
        </p:spPr>
        <p:txBody>
          <a:bodyPr/>
          <a:lstStyle/>
          <a:p>
            <a:endParaRPr lang="es-CL"/>
          </a:p>
        </p:txBody>
      </p:sp>
      <p:sp>
        <p:nvSpPr>
          <p:cNvPr id="8" name="Shape 6"/>
          <p:cNvSpPr/>
          <p:nvPr/>
        </p:nvSpPr>
        <p:spPr>
          <a:xfrm>
            <a:off x="548640" y="2048256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9" name="Text 7"/>
          <p:cNvSpPr/>
          <p:nvPr/>
        </p:nvSpPr>
        <p:spPr>
          <a:xfrm>
            <a:off x="640080" y="207568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registros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0" y="207568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5.100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0" y="207568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4.996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642616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Cantidad de variables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54880" y="264261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0" y="264261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182112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640080" y="3209544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 faltantes (total)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54880" y="3209544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1.335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0" y="3209544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40080" y="3776472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duplicados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3776472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0" y="3776472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315968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23" name="Text 21"/>
          <p:cNvSpPr/>
          <p:nvPr/>
        </p:nvSpPr>
        <p:spPr>
          <a:xfrm>
            <a:off x="640080" y="4343400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 de dominio / texto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754880" y="434340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0" y="4343400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4910328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en variables acotadas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754880" y="491032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293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6400800" y="4910328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548640" y="5449824"/>
            <a:ext cx="7498080" cy="566928"/>
          </a:xfrm>
          <a:prstGeom prst="rect">
            <a:avLst/>
          </a:prstGeom>
          <a:solidFill>
            <a:srgbClr val="F6F8FB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0" name="Text 28"/>
          <p:cNvSpPr/>
          <p:nvPr/>
        </p:nvSpPr>
        <p:spPr>
          <a:xfrm>
            <a:off x="640080" y="5477256"/>
            <a:ext cx="40690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341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en Age (por diseño, no se tratan)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547725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C05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400800" y="5477256"/>
            <a:ext cx="16459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366760" y="1600200"/>
            <a:ext cx="3291840" cy="4434840"/>
          </a:xfrm>
          <a:prstGeom prst="roundRect">
            <a:avLst>
              <a:gd name="adj" fmla="val 3333"/>
            </a:avLst>
          </a:prstGeom>
          <a:solidFill>
            <a:srgbClr val="1B2A4A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4" name="Shape 32"/>
          <p:cNvSpPr/>
          <p:nvPr/>
        </p:nvSpPr>
        <p:spPr>
          <a:xfrm>
            <a:off x="9628632" y="1874520"/>
            <a:ext cx="768096" cy="768096"/>
          </a:xfrm>
          <a:prstGeom prst="ellipse">
            <a:avLst/>
          </a:prstGeom>
          <a:solidFill>
            <a:srgbClr val="F2A541"/>
          </a:solidFill>
          <a:ln/>
        </p:spPr>
        <p:txBody>
          <a:bodyPr/>
          <a:lstStyle/>
          <a:p>
            <a:endParaRPr lang="es-CL"/>
          </a:p>
        </p:txBody>
      </p:sp>
      <p:pic>
        <p:nvPicPr>
          <p:cNvPr id="35" name="Image 0" descr="icons/databa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7613" y="2043501"/>
            <a:ext cx="430134" cy="430134"/>
          </a:xfrm>
          <a:prstGeom prst="rect">
            <a:avLst/>
          </a:prstGeom>
        </p:spPr>
      </p:pic>
      <p:sp>
        <p:nvSpPr>
          <p:cNvPr id="36" name="Text 33"/>
          <p:cNvSpPr/>
          <p:nvPr/>
        </p:nvSpPr>
        <p:spPr>
          <a:xfrm>
            <a:off x="8549640" y="278892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rendimiento_academico_limpio.csv</a:t>
            </a:r>
            <a:endParaRPr lang="en-US" sz="1350" dirty="0"/>
          </a:p>
        </p:txBody>
      </p:sp>
      <p:sp>
        <p:nvSpPr>
          <p:cNvPr id="37" name="Text 34"/>
          <p:cNvSpPr/>
          <p:nvPr/>
        </p:nvSpPr>
        <p:spPr>
          <a:xfrm>
            <a:off x="8549640" y="35204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4.996 filas  ×  11 columnas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8686800" y="4023360"/>
            <a:ext cx="26517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050" i="1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Generado por un único Pipeline reproducible, ejecutable nuevamente sobre el CSV original.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2875630" cy="2267712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3" name="Shape 1"/>
          <p:cNvSpPr/>
          <p:nvPr/>
        </p:nvSpPr>
        <p:spPr>
          <a:xfrm>
            <a:off x="9953296" y="4727448"/>
            <a:ext cx="4494223" cy="3959352"/>
          </a:xfrm>
          <a:prstGeom prst="ellipse">
            <a:avLst/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4" name="Text 2"/>
          <p:cNvSpPr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b="1" kern="0" spc="200" dirty="0">
                <a:solidFill>
                  <a:srgbClr val="5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FINAL DE LA CALIDAD DE LOS DATOS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621792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dataset limpio, trazable y reproducible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7" name="Text 5"/>
          <p:cNvSpPr/>
          <p:nvPr/>
        </p:nvSpPr>
        <p:spPr>
          <a:xfrm>
            <a:off x="54864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68580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valores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faltantes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0" name="Text 8"/>
          <p:cNvSpPr/>
          <p:nvPr/>
        </p:nvSpPr>
        <p:spPr>
          <a:xfrm>
            <a:off x="338328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352044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duplicados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3" name="Text 11"/>
          <p:cNvSpPr/>
          <p:nvPr/>
        </p:nvSpPr>
        <p:spPr>
          <a:xfrm>
            <a:off x="621792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635508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inconsistencias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dominio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052560" y="1920240"/>
            <a:ext cx="2697480" cy="1920240"/>
          </a:xfrm>
          <a:prstGeom prst="roundRect">
            <a:avLst>
              <a:gd name="adj" fmla="val 5714"/>
            </a:avLst>
          </a:prstGeom>
          <a:solidFill>
            <a:srgbClr val="121C33"/>
          </a:solidFill>
          <a:ln/>
        </p:spPr>
        <p:txBody>
          <a:bodyPr/>
          <a:lstStyle/>
          <a:p>
            <a:endParaRPr lang="es-CL"/>
          </a:p>
        </p:txBody>
      </p:sp>
      <p:sp>
        <p:nvSpPr>
          <p:cNvPr id="16" name="Text 14"/>
          <p:cNvSpPr/>
          <p:nvPr/>
        </p:nvSpPr>
        <p:spPr>
          <a:xfrm>
            <a:off x="9052560" y="2084832"/>
            <a:ext cx="2697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9189720" y="2971800"/>
            <a:ext cx="24231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outliers fuera de</a:t>
            </a:r>
            <a:endParaRPr lang="en-US" sz="12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2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límites IQR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2960" y="4297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00" i="1" dirty="0">
                <a:solidFill>
                  <a:srgbClr val="C3CE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indicadores de calidad corregibles quedan en cero. Age y FinalGrade conservan intencionalmente sus valores extremos, por decisión de diseño justificada en el diagnóstico. El proceso completo es reproducible: ejecutar el Pipeline sobre el CSV original produce siempre el mismo resultado.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¡Gracias!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FB3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 Académico · Evaluación 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365992" y="640080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1536</Words>
  <Application>Microsoft Office PowerPoint</Application>
  <PresentationFormat>Panorámica</PresentationFormat>
  <Paragraphs>310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sebastian isla pino</cp:lastModifiedBy>
  <cp:revision>4</cp:revision>
  <dcterms:created xsi:type="dcterms:W3CDTF">2026-09-03T02:19:42Z</dcterms:created>
  <dcterms:modified xsi:type="dcterms:W3CDTF">2026-09-03T03:54:51Z</dcterms:modified>
</cp:coreProperties>
</file>