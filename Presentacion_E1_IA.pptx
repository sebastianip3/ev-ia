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valores faltantes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Attendance</c:v>
                </c:pt>
                <c:pt idx="1">
                  <c:v>AssignmentsCompleted</c:v>
                </c:pt>
                <c:pt idx="2">
                  <c:v>StudyHours</c:v>
                </c:pt>
                <c:pt idx="3">
                  <c:v>InternetHours</c:v>
                </c:pt>
                <c:pt idx="4">
                  <c:v>PreviousGPA</c:v>
                </c:pt>
                <c:pt idx="5">
                  <c:v>SleepHours</c:v>
                </c:pt>
                <c:pt idx="6">
                  <c:v>Age</c:v>
                </c:pt>
                <c:pt idx="7">
                  <c:v>Scholarship</c:v>
                </c:pt>
                <c:pt idx="8">
                  <c:v>Program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4.3899999999999997</c:v>
                </c:pt>
                <c:pt idx="1">
                  <c:v>4.24</c:v>
                </c:pt>
                <c:pt idx="2">
                  <c:v>3.55</c:v>
                </c:pt>
                <c:pt idx="3">
                  <c:v>3.45</c:v>
                </c:pt>
                <c:pt idx="4">
                  <c:v>3.18</c:v>
                </c:pt>
                <c:pt idx="5">
                  <c:v>2.39</c:v>
                </c:pt>
                <c:pt idx="6">
                  <c:v>2.02</c:v>
                </c:pt>
                <c:pt idx="7">
                  <c:v>1.59</c:v>
                </c:pt>
                <c:pt idx="8">
                  <c:v>1.37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58-41EC-940F-EB5BC3DEA2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400000"/>
          <a:lstStyle/>
          <a:p>
            <a:pPr>
              <a:defRPr sz="9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E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faltante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outliers (IQR)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InternetHours</c:v>
                </c:pt>
                <c:pt idx="1">
                  <c:v>Age</c:v>
                </c:pt>
                <c:pt idx="2">
                  <c:v>SleepHours</c:v>
                </c:pt>
                <c:pt idx="3">
                  <c:v>StudyHours</c:v>
                </c:pt>
                <c:pt idx="4">
                  <c:v>FinalGrade</c:v>
                </c:pt>
                <c:pt idx="5">
                  <c:v>Attendance</c:v>
                </c:pt>
                <c:pt idx="6">
                  <c:v>PreviousGPA</c:v>
                </c:pt>
                <c:pt idx="7">
                  <c:v>AssignmentsCompleted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2.84</c:v>
                </c:pt>
                <c:pt idx="1">
                  <c:v>1.24</c:v>
                </c:pt>
                <c:pt idx="2">
                  <c:v>0.67</c:v>
                </c:pt>
                <c:pt idx="3">
                  <c:v>0.96</c:v>
                </c:pt>
                <c:pt idx="4">
                  <c:v>0.73</c:v>
                </c:pt>
                <c:pt idx="5">
                  <c:v>0.53</c:v>
                </c:pt>
                <c:pt idx="6">
                  <c:v>0.41</c:v>
                </c:pt>
                <c:pt idx="7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B-456C-A9F0-52F2DB4058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AEE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de registros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N° estudiantes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1.0–1.8</c:v>
                </c:pt>
                <c:pt idx="1">
                  <c:v>1.8–2.6</c:v>
                </c:pt>
                <c:pt idx="2">
                  <c:v>2.6–3.3</c:v>
                </c:pt>
                <c:pt idx="3">
                  <c:v>3.3–4.1</c:v>
                </c:pt>
                <c:pt idx="4">
                  <c:v>4.1–4.9</c:v>
                </c:pt>
                <c:pt idx="5">
                  <c:v>4.9–5.7</c:v>
                </c:pt>
                <c:pt idx="6">
                  <c:v>5.7–6.5</c:v>
                </c:pt>
                <c:pt idx="7">
                  <c:v>6.5–7.2</c:v>
                </c:pt>
                <c:pt idx="8">
                  <c:v>7.2–8.0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</c:v>
                </c:pt>
                <c:pt idx="1">
                  <c:v>258</c:v>
                </c:pt>
                <c:pt idx="2">
                  <c:v>681</c:v>
                </c:pt>
                <c:pt idx="3">
                  <c:v>1297</c:v>
                </c:pt>
                <c:pt idx="4">
                  <c:v>1501</c:v>
                </c:pt>
                <c:pt idx="5">
                  <c:v>940</c:v>
                </c:pt>
                <c:pt idx="6">
                  <c:v>244</c:v>
                </c:pt>
                <c:pt idx="7">
                  <c:v>22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3-4227-8A8B-60B3ABF074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N° de estudiantes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Correlación con FinalGrade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Attendance</c:v>
                </c:pt>
                <c:pt idx="1">
                  <c:v>StudyHours</c:v>
                </c:pt>
                <c:pt idx="2">
                  <c:v>PreviousGPA</c:v>
                </c:pt>
                <c:pt idx="3">
                  <c:v>AssignmentsCompleted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0.61399999999999999</c:v>
                </c:pt>
                <c:pt idx="1">
                  <c:v>0.49399999999999999</c:v>
                </c:pt>
                <c:pt idx="2">
                  <c:v>0.42</c:v>
                </c:pt>
                <c:pt idx="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1C-419E-B1B8-63C29A11BC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b"/>
        <c:majorGridlines>
          <c:spPr>
            <a:ln w="12700" cap="flat">
              <a:solidFill>
                <a:srgbClr val="EAEEF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Coeficiente de Pearson (r)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FinalGrade promedio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4D-4201-B30C-CB8CCA622B70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4D-4201-B30C-CB8CCA622B7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 beca</c:v>
                </c:pt>
                <c:pt idx="1">
                  <c:v>Sin beca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4.3710000000000004</c:v>
                </c:pt>
                <c:pt idx="1">
                  <c:v>4.0780000000000003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4D-4201-B30C-CB8CCA622B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999999999999996"/>
          <c:min val="3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FinalGrade promedio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Administración</c:v>
                </c:pt>
                <c:pt idx="1">
                  <c:v>Ing. Informática</c:v>
                </c:pt>
                <c:pt idx="2">
                  <c:v>Ing. Industrial</c:v>
                </c:pt>
                <c:pt idx="3">
                  <c:v>Ing. Civil</c:v>
                </c:pt>
                <c:pt idx="4">
                  <c:v>Contador Auditor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4.2320000000000002</c:v>
                </c:pt>
                <c:pt idx="1">
                  <c:v>4.2309999999999999</c:v>
                </c:pt>
                <c:pt idx="2">
                  <c:v>4.2030000000000003</c:v>
                </c:pt>
                <c:pt idx="3">
                  <c:v>4.1100000000000003</c:v>
                </c:pt>
                <c:pt idx="4">
                  <c:v>4.0460000000000003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8-43C2-B0BC-AF2053160C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4000000000000004"/>
          <c:min val="3.8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FinalGrade promedio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33415C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3.3149999999999999</c:v>
                </c:pt>
                <c:pt idx="1">
                  <c:v>4</c:v>
                </c:pt>
                <c:pt idx="2">
                  <c:v>4.4690000000000003</c:v>
                </c:pt>
                <c:pt idx="3">
                  <c:v>4.9409999999999998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F9-4875-A1BF-888276920F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3"/>
          <c:min val="2.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90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image" Target="../media/image10.png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789920" y="-36576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-2103120" y="5212080"/>
            <a:ext cx="3291840" cy="3291840"/>
          </a:xfrm>
          <a:prstGeom prst="ellipse">
            <a:avLst/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-1554480" y="6126480"/>
            <a:ext cx="1371600" cy="13716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1 · CALIDAD Y PREPARACIÓN DE DATOS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 Académico Estudiantil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calidad, análisis exploratorio y tratamiento reproducible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mediante Pipeline y ColumnTransformer (scikit-learn)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7955280" cy="12802"/>
          </a:xfrm>
          <a:prstGeom prst="rect">
            <a:avLst/>
          </a:prstGeom>
          <a:solidFill>
            <a:srgbClr val="3A4A6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864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 Palacios Toledo  </a:t>
            </a:r>
            <a:r>
              <a:rPr lang="en-US" sz="1050" i="1" dirty="0">
                <a:solidFill>
                  <a:srgbClr val="93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alexis.palacios2301@alumnos.ubiobio.cl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19379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Tuschner Salazar  </a:t>
            </a:r>
            <a:r>
              <a:rPr lang="en-US" sz="1050" i="1" dirty="0">
                <a:solidFill>
                  <a:srgbClr val="93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jorge.tuschner2301@alumnos.ubiobio.cl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52297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Isla Pino  </a:t>
            </a:r>
            <a:r>
              <a:rPr lang="en-US" sz="1050" i="1" dirty="0">
                <a:solidFill>
                  <a:srgbClr val="93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benjamin.isla2301@alumnos.ubiobio.cl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Isla Pino  </a:t>
            </a:r>
            <a:r>
              <a:rPr lang="en-US" sz="1050" i="1" dirty="0">
                <a:solidFill>
                  <a:srgbClr val="93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sebastian.isla2301@alumnos.ubiobio.cl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06840" y="4526280"/>
            <a:ext cx="2468880" cy="1691640"/>
          </a:xfrm>
          <a:prstGeom prst="roundRect">
            <a:avLst>
              <a:gd name="adj" fmla="val 6486"/>
            </a:avLst>
          </a:prstGeom>
          <a:solidFill>
            <a:srgbClr val="121C33"/>
          </a:solidFill>
          <a:ln w="12700">
            <a:solidFill>
              <a:srgbClr val="2E3E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235440" y="47000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235440" y="4956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Yazna Meza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35440" y="5440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ENTREGA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35440" y="56875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4 de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revisar?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" y="186208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73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0208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5.100 registros y 11 variables sobre rendimiento académico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607040" y="16733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2532888"/>
            <a:ext cx="10972800" cy="0"/>
          </a:xfrm>
          <a:prstGeom prst="line">
            <a:avLst/>
          </a:prstGeom>
          <a:noFill/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Image 1" descr="icons/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277648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587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de calidad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508760" y="29352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Faltantes, duplicados, inconsistencias y outliers detectados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607040" y="25877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640080" y="3447288"/>
            <a:ext cx="10972800" cy="0"/>
          </a:xfrm>
          <a:prstGeom prst="line">
            <a:avLst/>
          </a:prstGeom>
          <a:noFill/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640080" y="35661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2" descr="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04" y="369088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5021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EDA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508760" y="38496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Distribuciones, correlaciones y 4 preguntas de investigación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0607040" y="35021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640080" y="4361688"/>
            <a:ext cx="10972800" cy="0"/>
          </a:xfrm>
          <a:prstGeom prst="line">
            <a:avLst/>
          </a:prstGeom>
          <a:noFill/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640080" y="4480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3" descr="icons/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804" y="4605284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4165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y Pipeline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508760" y="47640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justificadas e implementación reproducible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0607040" y="44165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1"/>
          <p:cNvSpPr/>
          <p:nvPr/>
        </p:nvSpPr>
        <p:spPr>
          <a:xfrm>
            <a:off x="640080" y="5276088"/>
            <a:ext cx="10972800" cy="0"/>
          </a:xfrm>
          <a:prstGeom prst="line">
            <a:avLst/>
          </a:prstGeom>
          <a:noFill/>
          <a:ln w="12700">
            <a:solidFill>
              <a:srgbClr val="E7EC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2"/>
          <p:cNvSpPr/>
          <p:nvPr/>
        </p:nvSpPr>
        <p:spPr>
          <a:xfrm>
            <a:off x="640080" y="53949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9" name="Image 4" descr="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804" y="5519684"/>
            <a:ext cx="317480" cy="317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08760" y="5330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final</a:t>
            </a:r>
            <a:endParaRPr lang="en-US" sz="1700" dirty="0"/>
          </a:p>
        </p:txBody>
      </p:sp>
      <p:sp>
        <p:nvSpPr>
          <p:cNvPr id="31" name="Text 24"/>
          <p:cNvSpPr/>
          <p:nvPr/>
        </p:nvSpPr>
        <p:spPr>
          <a:xfrm>
            <a:off x="1508760" y="567842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antes/después y calidad del dataset tratado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0607040" y="53309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26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CALIDAD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Caracterización del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rendimiento_academico_evaluacion.csv — datos demográficos, hábitos de estudio, antecedentes académicos y rendimiento final.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4864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46888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6032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38912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8056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30936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0080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822960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(StudentID)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149840" y="1965960"/>
            <a:ext cx="1755648" cy="19659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C97AC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10149840" y="2221992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0241280" y="30175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(FinalGrade)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91440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75488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3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identifica de forma única a cada estudiante. FinalGrade (escala 1–10) es la variable objetivo. Las features numéricas son Age, StudyHours, Attendance, PreviousGPA, AssignmentsCompleted, SleepHours e InternetHours; las categóricas son Scholarship y Program.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CALIDAD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problemas encontrados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467612" y="21031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593" y="2272101"/>
            <a:ext cx="430134" cy="430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01752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faltantes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58368" y="3520440"/>
            <a:ext cx="2386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13232" y="411480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 al menos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nulo, 1,4%–4,4%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variable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38328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4302252" y="2103120"/>
            <a:ext cx="768096" cy="768096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icons/co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233" y="2272101"/>
            <a:ext cx="430134" cy="4301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301752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Duplicados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493008" y="3520440"/>
            <a:ext cx="2386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547872" y="411480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exactamente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repetidos (1,96% del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dataset)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21792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7136892" y="2103120"/>
            <a:ext cx="768096" cy="768096"/>
          </a:xfrm>
          <a:prstGeom prst="ellipse">
            <a:avLst/>
          </a:prstGeom>
          <a:solidFill>
            <a:srgbClr val="C057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icons/tria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873" y="2272101"/>
            <a:ext cx="430134" cy="4301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7648" y="301752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Inconsistencias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327648" y="3520440"/>
            <a:ext cx="2386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382512" y="411480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 texto o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fuera de dominio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variables afectadas)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06040" cy="324612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18"/>
          <p:cNvSpPr/>
          <p:nvPr/>
        </p:nvSpPr>
        <p:spPr>
          <a:xfrm>
            <a:off x="9971532" y="2103120"/>
            <a:ext cx="768096" cy="768096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Image 3" descr="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0513" y="2272101"/>
            <a:ext cx="430134" cy="43013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2288" y="3017520"/>
            <a:ext cx="2386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162288" y="3520440"/>
            <a:ext cx="2386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293→38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9217152" y="411480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vía IQR; distinguidos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extremos válidos y</a:t>
            </a:r>
            <a:endParaRPr lang="en-US" sz="108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inválidos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problema supera el 5% de los registros por variable de forma aislada, pero en conjunto exigen un tratamiento estructurado antes de cualquier análisis o modelo.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CALIDAD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faltantes por variable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63040"/>
            <a:ext cx="3977640" cy="4480560"/>
          </a:xfrm>
          <a:prstGeom prst="roundRect">
            <a:avLst>
              <a:gd name="adj" fmla="val 2299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90956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09560" y="2103120"/>
            <a:ext cx="35204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features presentan nulos: entre 1,4% y 4,4% de los registros.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AssignmentsCompleted y StudyHours son las más afectadas.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(target) no tiene valores nulos.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variable supera el 5% → no se justifica eliminar columnas.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Estrategia: imputación (mediana en numéricas, moda en categóricas) dentro del Pipeline.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CALIDAD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Duplicados e inconsistencias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920240" y="18745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291" y="205557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34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totalmente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(1,96%)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 exactamente en StudentID y en el resto de las columnas → misma observación repetida. Se eliminan conservando la primera ocurrencia.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43400" y="1600200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de dominio detectadas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4526280" y="21031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2103120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inconsistente ('SI', 'no ', 'SÍ ')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652760" y="210312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43400" y="2724912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4526280" y="272491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2724912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tildes, mayúsculas, espacios extra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652760" y="2724912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343400" y="3346704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4526280" y="334670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09360" y="3346704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rango [0, 100] (negativos y &gt; 100)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652760" y="3346704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343400" y="3968496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4526280" y="396849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SleepHours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09360" y="3968496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sueño negativas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652760" y="3968496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343400" y="4590288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4526280" y="459028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InternetHours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09360" y="4590288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24 horas diarias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652760" y="4590288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343400" y="5212080"/>
            <a:ext cx="7269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4526280" y="52120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309360" y="5212080"/>
            <a:ext cx="4251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la escala [1, 10]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0652760" y="521208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CALIDAD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atípicos (outliers) — método IQR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6751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417320"/>
            <a:ext cx="4206240" cy="4160520"/>
          </a:xfrm>
          <a:prstGeom prst="roundRect">
            <a:avLst>
              <a:gd name="adj" fmla="val 219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680960" y="1627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 válido ≠ valor inválido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80960" y="20574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(35–80 años): </a:t>
            </a:r>
            <a:r>
              <a:rPr lang="en-US" sz="108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estadístico pero real → NO se winsoriza, solo se imputan nulos.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7680960" y="310896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StudyHours, Attendance, PreviousGPA, AssignmentsCompleted, SleepHours, InternetHours: </a:t>
            </a:r>
            <a:r>
              <a:rPr lang="en-US" sz="108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de comportamiento → SÍ se acotan (capping IQR) dentro del Pipeline.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7680960" y="4160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(target): </a:t>
            </a:r>
            <a:r>
              <a:rPr lang="en-US" sz="108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 válidos se conservan; no se transforma el objetivo.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EXPLORATORIO (EDA)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FinalGrade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4173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092440" y="162763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4,17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183880" y="235915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promedio (FinalGrade)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92440" y="36118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321040" y="3794760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aproximadamente normal, con mediana similar a la media (≈4,2). El estudiante típico se ubica justo sobre el umbral de aprobación (4,0), pero existe un grupo relevante por debajo.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ANÁLISIS EXPLORATORIO (EDA)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Relaciones con el rendimiento académico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858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63040"/>
            <a:ext cx="3977640" cy="4206240"/>
          </a:xfrm>
          <a:prstGeom prst="roundRect">
            <a:avLst>
              <a:gd name="adj" fmla="val 2299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909560" y="16916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la matriz de correlación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09560" y="2286000"/>
            <a:ext cx="3520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y StudyHours muestran la asociación positiva más fuerte con FinalGrade.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PreviousGPA y AssignmentsCompleted también se asocian positivamente.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InternetHours es la excepción: relación negativa débil (r ≈ -0,18).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gráficos de dispersión confirman una tendencia positiva y razonablemente lineal.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PREGUNTAS DE INVESTIGACIÓN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— Beca   ·   P2 — Programa académico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19078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¿Difiere el rendimiento entre becados y no becados?</a:t>
            </a:r>
            <a:endParaRPr lang="en-US" sz="14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868680" y="2514600"/>
          <a:ext cx="48463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457200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8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Diferencia: </a:t>
            </a:r>
            <a:r>
              <a:rPr lang="en-US" sz="118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+0,293 puntos </a:t>
            </a:r>
            <a:r>
              <a:rPr lang="en-US" sz="118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favor de los becados (t de Welch, p &lt; 0,05 → significativo, aunque de magnitud moderada).</a:t>
            </a:r>
            <a:endParaRPr lang="en-US" sz="1180" dirty="0"/>
          </a:p>
        </p:txBody>
      </p:sp>
      <p:sp>
        <p:nvSpPr>
          <p:cNvPr id="10" name="Shape 6"/>
          <p:cNvSpPr/>
          <p:nvPr/>
        </p:nvSpPr>
        <p:spPr>
          <a:xfrm>
            <a:off x="6172200" y="1554480"/>
            <a:ext cx="5468112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9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7"/>
          <p:cNvSpPr/>
          <p:nvPr/>
        </p:nvSpPr>
        <p:spPr>
          <a:xfrm>
            <a:off x="644652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icons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244" y="1907804"/>
            <a:ext cx="317480" cy="317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810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programa presenta mejor rendimiento?</a:t>
            </a:r>
            <a:endParaRPr lang="en-US" sz="145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6492240" y="2514600"/>
          <a:ext cx="49377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 9"/>
          <p:cNvSpPr/>
          <p:nvPr/>
        </p:nvSpPr>
        <p:spPr>
          <a:xfrm>
            <a:off x="6492240" y="5257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(4,232) y </a:t>
            </a:r>
            <a:r>
              <a:rPr lang="en-US" sz="1150" b="1" dirty="0">
                <a:solidFill>
                  <a:srgbClr val="C0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Auditor 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más bajo (4,046) → diferencia de 0,186 puntos.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PREGUNTAS DE INVESTIGACIÓN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— Horas de estudio   ·   P4 — Asistencia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84" y="19078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StudyHours vs. FinalGrade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0,494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" y="3310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(r)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33756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0,711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337560" y="33101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(ρ)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38862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positiva de intensidad moderada: a más horas semanales de estudio, mayor calificación final. La consistencia entre Pearson y Spearman indica una tendencia monótona, no dominada por outliers.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554480"/>
            <a:ext cx="5468112" cy="4297680"/>
          </a:xfrm>
          <a:prstGeom prst="roundRect">
            <a:avLst>
              <a:gd name="adj" fmla="val 2553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644652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1" descr="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244" y="1907804"/>
            <a:ext cx="317480" cy="317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810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vs. FinalGrade</a:t>
            </a:r>
            <a:endParaRPr lang="en-US" sz="15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492240" y="2468880"/>
          <a:ext cx="49377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Text 13"/>
          <p:cNvSpPr/>
          <p:nvPr/>
        </p:nvSpPr>
        <p:spPr>
          <a:xfrm>
            <a:off x="6492240" y="49834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0,614. </a:t>
            </a: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FinalGrade promedio crece de forma consistente desde el cuartil de menor asistencia (Q1) hasta el de mayor (Q4).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INTERPRETACIÓN DEL EDA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conclusiones generales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39312" cy="3931920"/>
          </a:xfrm>
          <a:prstGeom prst="roundRect">
            <a:avLst>
              <a:gd name="adj" fmla="val 3015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002536" y="214884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470" y="23097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30906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esfuerzo durante el curso importa tanto como el historial previo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2999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3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StudyHours y Attendance se correlacionan con FinalGrade en una magnitud comparable a PreviousGPA.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639312" cy="3931920"/>
          </a:xfrm>
          <a:prstGeom prst="roundRect">
            <a:avLst>
              <a:gd name="adj" fmla="val 3015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5779008" y="214884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icons/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942" y="2309774"/>
            <a:ext cx="409651" cy="4096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99432" y="3154680"/>
            <a:ext cx="30906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brecha por beca es significativa pero moderada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45152" y="4251960"/>
            <a:ext cx="2999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3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+0,293 puntos a favor de los becados (p &lt; 0,05), un efecto real pero acotado en términos absolutos.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1584" y="1828800"/>
            <a:ext cx="3639312" cy="3931920"/>
          </a:xfrm>
          <a:prstGeom prst="roundRect">
            <a:avLst>
              <a:gd name="adj" fmla="val 3015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9555480" y="214884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2" descr="icons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414" y="230977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0184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4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75904" y="3154680"/>
            <a:ext cx="30906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heterogeneidad entre programas académicos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21624" y="4251960"/>
            <a:ext cx="29992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3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0,186 puntos de diferencia entre Administración y Contador Auditor: un factor relevante a considerar.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TRATAMIENTO DE LOS DATOS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decisiones de tratamiento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91840" y="14813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23560" y="1481328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4813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1109960" cy="0"/>
          </a:xfrm>
          <a:prstGeom prst="line">
            <a:avLst/>
          </a:prstGeom>
          <a:noFill/>
          <a:ln w="15875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109960" cy="51663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21792" y="1901952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lang="en-US" sz="990" dirty="0"/>
          </a:p>
        </p:txBody>
      </p:sp>
      <p:sp>
        <p:nvSpPr>
          <p:cNvPr id="11" name="Text 9"/>
          <p:cNvSpPr/>
          <p:nvPr/>
        </p:nvSpPr>
        <p:spPr>
          <a:xfrm>
            <a:off x="3364992" y="1901952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</a:t>
            </a:r>
            <a:endParaRPr lang="en-US" sz="990" dirty="0"/>
          </a:p>
        </p:txBody>
      </p:sp>
      <p:sp>
        <p:nvSpPr>
          <p:cNvPr id="12" name="Text 10"/>
          <p:cNvSpPr/>
          <p:nvPr/>
        </p:nvSpPr>
        <p:spPr>
          <a:xfrm>
            <a:off x="5696712" y="1901952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observación repetida; conservarla duplicaría su peso estadístico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10131552" y="1901952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pipeline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621792" y="2418588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FinalGrade inválido</a:t>
            </a:r>
            <a:endParaRPr lang="en-US" sz="990" dirty="0"/>
          </a:p>
        </p:txBody>
      </p:sp>
      <p:sp>
        <p:nvSpPr>
          <p:cNvPr id="15" name="Text 13"/>
          <p:cNvSpPr/>
          <p:nvPr/>
        </p:nvSpPr>
        <p:spPr>
          <a:xfrm>
            <a:off x="3364992" y="2418588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fila (4 filas)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5696712" y="2418588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target: no se imputa sin sesgo arbitrario; pérdida mínima (0,08%)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10131552" y="2418588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pipeline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548640" y="2907792"/>
            <a:ext cx="11109960" cy="51663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21792" y="2935224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en Scholarship / Program</a:t>
            </a:r>
            <a:endParaRPr lang="en-US" sz="990" dirty="0"/>
          </a:p>
        </p:txBody>
      </p:sp>
      <p:sp>
        <p:nvSpPr>
          <p:cNvPr id="20" name="Text 18"/>
          <p:cNvSpPr/>
          <p:nvPr/>
        </p:nvSpPr>
        <p:spPr>
          <a:xfrm>
            <a:off x="3364992" y="2935224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a catálogo canónico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5696712" y="2935224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categoría semántica escrita de formas distintas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10131552" y="2935224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QualityCleaner</a:t>
            </a:r>
            <a:endParaRPr lang="en-US" sz="990" dirty="0"/>
          </a:p>
        </p:txBody>
      </p:sp>
      <p:sp>
        <p:nvSpPr>
          <p:cNvPr id="23" name="Text 21"/>
          <p:cNvSpPr/>
          <p:nvPr/>
        </p:nvSpPr>
        <p:spPr>
          <a:xfrm>
            <a:off x="621792" y="3451860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 en Attendance / SleepHours</a:t>
            </a:r>
            <a:endParaRPr lang="en-US" sz="990" dirty="0"/>
          </a:p>
        </p:txBody>
      </p:sp>
      <p:sp>
        <p:nvSpPr>
          <p:cNvPr id="24" name="Text 22"/>
          <p:cNvSpPr/>
          <p:nvPr/>
        </p:nvSpPr>
        <p:spPr>
          <a:xfrm>
            <a:off x="3364992" y="3451860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absoluto</a:t>
            </a:r>
            <a:endParaRPr lang="en-US" sz="990" dirty="0"/>
          </a:p>
        </p:txBody>
      </p:sp>
      <p:sp>
        <p:nvSpPr>
          <p:cNvPr id="25" name="Text 23"/>
          <p:cNvSpPr/>
          <p:nvPr/>
        </p:nvSpPr>
        <p:spPr>
          <a:xfrm>
            <a:off x="5696712" y="3451860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absoluto cae en un rango físicamente plausible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10131552" y="3451860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QualityCleaner</a:t>
            </a:r>
            <a:endParaRPr lang="en-US" sz="990" dirty="0"/>
          </a:p>
        </p:txBody>
      </p:sp>
      <p:sp>
        <p:nvSpPr>
          <p:cNvPr id="27" name="Shape 25"/>
          <p:cNvSpPr/>
          <p:nvPr/>
        </p:nvSpPr>
        <p:spPr>
          <a:xfrm>
            <a:off x="548640" y="3941064"/>
            <a:ext cx="11109960" cy="51663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21792" y="3968496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dominio (Attendance&gt;100, InternetHours&gt;24)</a:t>
            </a:r>
            <a:endParaRPr lang="en-US" sz="990" dirty="0"/>
          </a:p>
        </p:txBody>
      </p:sp>
      <p:sp>
        <p:nvSpPr>
          <p:cNvPr id="29" name="Text 27"/>
          <p:cNvSpPr/>
          <p:nvPr/>
        </p:nvSpPr>
        <p:spPr>
          <a:xfrm>
            <a:off x="3364992" y="3968496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como NaN</a:t>
            </a:r>
            <a:endParaRPr lang="en-US" sz="990" dirty="0"/>
          </a:p>
        </p:txBody>
      </p:sp>
      <p:sp>
        <p:nvSpPr>
          <p:cNvPr id="30" name="Text 28"/>
          <p:cNvSpPr/>
          <p:nvPr/>
        </p:nvSpPr>
        <p:spPr>
          <a:xfrm>
            <a:off x="5696712" y="3968496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Físicamente imposibles, sin corrección de signo/escala evidente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10131552" y="3968496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QualityCleaner</a:t>
            </a:r>
            <a:endParaRPr lang="en-US" sz="990" dirty="0"/>
          </a:p>
        </p:txBody>
      </p:sp>
      <p:sp>
        <p:nvSpPr>
          <p:cNvPr id="32" name="Text 30"/>
          <p:cNvSpPr/>
          <p:nvPr/>
        </p:nvSpPr>
        <p:spPr>
          <a:xfrm>
            <a:off x="621792" y="4485132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</a:t>
            </a:r>
            <a:endParaRPr lang="en-US" sz="990" dirty="0"/>
          </a:p>
        </p:txBody>
      </p:sp>
      <p:sp>
        <p:nvSpPr>
          <p:cNvPr id="33" name="Text 31"/>
          <p:cNvSpPr/>
          <p:nvPr/>
        </p:nvSpPr>
        <p:spPr>
          <a:xfrm>
            <a:off x="3364992" y="4485132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mediana / moda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5696712" y="4485132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dispersos (&lt;5%) en todas las variables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10131552" y="4485132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990" dirty="0"/>
          </a:p>
        </p:txBody>
      </p:sp>
      <p:sp>
        <p:nvSpPr>
          <p:cNvPr id="36" name="Shape 34"/>
          <p:cNvSpPr/>
          <p:nvPr/>
        </p:nvSpPr>
        <p:spPr>
          <a:xfrm>
            <a:off x="548640" y="4974336"/>
            <a:ext cx="11109960" cy="516636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21792" y="5001768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 comportamiento</a:t>
            </a:r>
            <a:endParaRPr lang="en-US" sz="990" dirty="0"/>
          </a:p>
        </p:txBody>
      </p:sp>
      <p:sp>
        <p:nvSpPr>
          <p:cNvPr id="38" name="Text 36"/>
          <p:cNvSpPr/>
          <p:nvPr/>
        </p:nvSpPr>
        <p:spPr>
          <a:xfrm>
            <a:off x="3364992" y="5001768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IQR (winsorización)</a:t>
            </a:r>
            <a:endParaRPr lang="en-US" sz="990" dirty="0"/>
          </a:p>
        </p:txBody>
      </p:sp>
      <p:sp>
        <p:nvSpPr>
          <p:cNvPr id="39" name="Text 37"/>
          <p:cNvSpPr/>
          <p:nvPr/>
        </p:nvSpPr>
        <p:spPr>
          <a:xfrm>
            <a:off x="5696712" y="5001768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 su influencia sin descartar la observación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10131552" y="5001768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IQRCapper</a:t>
            </a:r>
            <a:endParaRPr lang="en-US" sz="990" dirty="0"/>
          </a:p>
        </p:txBody>
      </p:sp>
      <p:sp>
        <p:nvSpPr>
          <p:cNvPr id="41" name="Text 39"/>
          <p:cNvSpPr/>
          <p:nvPr/>
        </p:nvSpPr>
        <p:spPr>
          <a:xfrm>
            <a:off x="621792" y="5518404"/>
            <a:ext cx="2633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y FinalGrade (outliers)</a:t>
            </a:r>
            <a:endParaRPr lang="en-US" sz="990" dirty="0"/>
          </a:p>
        </p:txBody>
      </p:sp>
      <p:sp>
        <p:nvSpPr>
          <p:cNvPr id="42" name="Text 40"/>
          <p:cNvSpPr/>
          <p:nvPr/>
        </p:nvSpPr>
        <p:spPr>
          <a:xfrm>
            <a:off x="3364992" y="5518404"/>
            <a:ext cx="222199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acotan</a:t>
            </a:r>
            <a:endParaRPr lang="en-US" sz="990" dirty="0"/>
          </a:p>
        </p:txBody>
      </p:sp>
      <p:sp>
        <p:nvSpPr>
          <p:cNvPr id="43" name="Text 41"/>
          <p:cNvSpPr/>
          <p:nvPr/>
        </p:nvSpPr>
        <p:spPr>
          <a:xfrm>
            <a:off x="5696712" y="5518404"/>
            <a:ext cx="432511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demográfico real / variable objetivo: no corresponde alterarlos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10131552" y="5518404"/>
            <a:ext cx="149047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9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tratamiento</a:t>
            </a:r>
            <a:endParaRPr lang="en-US" sz="990" dirty="0"/>
          </a:p>
        </p:txBody>
      </p:sp>
      <p:sp>
        <p:nvSpPr>
          <p:cNvPr id="45" name="Text 4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IMPLEMENTACIÓN CON SCIKIT-LEARN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D9502F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5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Pipeline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duplicados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FinalGrade inválido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(cambian el N° de filas)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155448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C97AC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63474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558" y="1923898"/>
            <a:ext cx="358445" cy="35844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36392" y="256032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QualityCleaner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154680" y="32004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texto, corrige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signo, marca NaN fuera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dominio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4846320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166360" y="155448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C97AC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573786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1" descr="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678" y="1923898"/>
            <a:ext cx="358445" cy="35844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39512" y="256032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(ColumnTransformer)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257800" y="32004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+ capping IQR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variables de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930" dirty="0"/>
          </a:p>
        </p:txBody>
      </p:sp>
      <p:sp>
        <p:nvSpPr>
          <p:cNvPr id="18" name="Text 14"/>
          <p:cNvSpPr/>
          <p:nvPr/>
        </p:nvSpPr>
        <p:spPr>
          <a:xfrm>
            <a:off x="6949440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269480" y="155448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C97AC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784098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Image 2" descr="icons/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798" y="1923898"/>
            <a:ext cx="358445" cy="35844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342632" y="256032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to_dataframe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7360920" y="32004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Reconstruye nombres y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columna</a:t>
            </a:r>
            <a:endParaRPr lang="en-US" sz="930" dirty="0"/>
          </a:p>
        </p:txBody>
      </p:sp>
      <p:sp>
        <p:nvSpPr>
          <p:cNvPr id="24" name="Text 19"/>
          <p:cNvSpPr/>
          <p:nvPr/>
        </p:nvSpPr>
        <p:spPr>
          <a:xfrm>
            <a:off x="9052560" y="27889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E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372600" y="1554480"/>
            <a:ext cx="1783080" cy="30175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C97AC">
                <a:alpha val="2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1"/>
          <p:cNvSpPr/>
          <p:nvPr/>
        </p:nvSpPr>
        <p:spPr>
          <a:xfrm>
            <a:off x="994410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7" name="Image 3" descr="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4918" y="1923898"/>
            <a:ext cx="358445" cy="35844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45752" y="256032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scale_encode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9464040" y="3200400"/>
            <a:ext cx="1600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</a:t>
            </a:r>
            <a:endParaRPr lang="en-US" sz="93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930" dirty="0"/>
          </a:p>
        </p:txBody>
      </p:sp>
      <p:sp>
        <p:nvSpPr>
          <p:cNvPr id="30" name="Shape 24"/>
          <p:cNvSpPr/>
          <p:nvPr/>
        </p:nvSpPr>
        <p:spPr>
          <a:xfrm>
            <a:off x="548640" y="489204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5"/>
          <p:cNvSpPr/>
          <p:nvPr/>
        </p:nvSpPr>
        <p:spPr>
          <a:xfrm>
            <a:off x="868680" y="504748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duplicados y FinalGrade inválido quedan fuera del Pipeline?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68680" y="5367528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Transformer de scikit-learn debe devolver siempre el mismo número de filas que recibió (requisito de ColumnTransformer, validación cruzada y predicción sobre una fila nueva). Como esas dos correcciones eliminan filas, se aplican de forma explícita y justificada antes del Pipeline; todo lo demás sí queda encapsulado y es reproducible con un único fit().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DATASET FINAL Y EVIDENCIA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Comparación: dataset original vs. tratado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5488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7498080" cy="0"/>
          </a:xfrm>
          <a:prstGeom prst="line">
            <a:avLst/>
          </a:prstGeom>
          <a:noFill/>
          <a:ln w="15875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48640" y="2048256"/>
            <a:ext cx="7498080" cy="566928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registros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07568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207568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4.996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642616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variables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4261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264261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182112"/>
            <a:ext cx="7498080" cy="566928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40080" y="3209544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 (total)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20954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20954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77647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77647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377647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7498080" cy="566928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40080" y="434340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de dominio / texto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3434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434340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4910328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variables acotadas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9103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0" y="49103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449824"/>
            <a:ext cx="7498080" cy="566928"/>
          </a:xfrm>
          <a:prstGeom prst="rect">
            <a:avLst/>
          </a:prstGeom>
          <a:solidFill>
            <a:srgbClr val="F6F8F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640080" y="5477256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Age (por diseño, no se tratan)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54772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5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0" y="54772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366760" y="1600200"/>
            <a:ext cx="3291840" cy="443484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9628632" y="1874520"/>
            <a:ext cx="768096" cy="768096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5" name="Image 0" descr="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613" y="2043501"/>
            <a:ext cx="430134" cy="43013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549640" y="2788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rendimiento_academico_limpio.csv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54964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4.996 filas  ×  11 columnas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686800" y="402336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C3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por un único Pipeline reproducible, ejecutable nuevamente sobre el CSV original.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2875630" cy="2267712"/>
          </a:xfrm>
          <a:prstGeom prst="ellipse">
            <a:avLst/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5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 DE LA CALIDAD DE LOS DATOS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dataset limpio, trazable y reproducible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383280" y="20848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520440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217920" y="20848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55080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dominio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19202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121C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052560" y="208483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189720" y="297180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fuera de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IQR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3C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indicadores de calidad corregibles quedan en cero. Age y FinalGrade conservan intencionalmente sus valores extremos, por decisión de diseño justificada en el diagnóstico. El proceso completo es reproducible: ejecutar el Pipeline sobre el CSV original produce siempre el mismo resultado.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Académico · Evaluación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1572</Words>
  <Application>Microsoft Office PowerPoint</Application>
  <PresentationFormat>Panorámica</PresentationFormat>
  <Paragraphs>310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sebastian isla pino</cp:lastModifiedBy>
  <cp:revision>2</cp:revision>
  <dcterms:created xsi:type="dcterms:W3CDTF">2026-09-03T02:19:42Z</dcterms:created>
  <dcterms:modified xsi:type="dcterms:W3CDTF">2026-09-03T02:57:17Z</dcterms:modified>
</cp:coreProperties>
</file>